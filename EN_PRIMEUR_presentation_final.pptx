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9" r:id="rId4"/>
    <p:sldId id="259" r:id="rId5"/>
    <p:sldId id="258" r:id="rId6"/>
    <p:sldId id="273" r:id="rId7"/>
    <p:sldId id="261" r:id="rId8"/>
    <p:sldId id="262" r:id="rId9"/>
    <p:sldId id="263" r:id="rId10"/>
    <p:sldId id="270" r:id="rId11"/>
    <p:sldId id="271" r:id="rId12"/>
    <p:sldId id="272" r:id="rId13"/>
    <p:sldId id="275" r:id="rId14"/>
    <p:sldId id="274" r:id="rId15"/>
    <p:sldId id="280" r:id="rId16"/>
    <p:sldId id="277" r:id="rId17"/>
    <p:sldId id="276" r:id="rId18"/>
    <p:sldId id="278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4C05"/>
    <a:srgbClr val="F4ECD8"/>
    <a:srgbClr val="D7AC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>
        <p:scale>
          <a:sx n="109" d="100"/>
          <a:sy n="109" d="100"/>
        </p:scale>
        <p:origin x="144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3330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6FB84-D713-71A3-C2B9-2B9F8F740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D0023D-A2B9-2E5E-CFB6-2B6323A47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854939-1EBB-CFD7-A9F1-78E617B2CB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CEE73-4308-73EB-8C09-6A0E0BE281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4003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B3649-A17C-AF81-C52B-185C3E447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299EE0-B564-5555-E6E2-5C8C4EE180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7091D7-E0AA-D0FF-F523-DC3C4D5455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35C46-71A6-5062-401E-4D11A1D9CC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3699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D2BDC-4174-DA28-B853-8002FBD6D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CD82FC-821F-AB09-12BE-24F9200ADE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C51AA4-527F-82C0-B9A0-CB7CE0DD2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092F4-3B67-6C1E-7DDD-D1F37E1CC5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1792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0A9B2-8DB8-4047-4710-E5E0615C3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AFA614-80A5-267E-8A06-C07F664420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5AE304-5846-CE1F-AEED-CE8BBE71A3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83576-A06C-0AA2-361B-37B07396D2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6127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FB404-A2B6-6443-6430-12CE4B4F3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3BC94A-A58A-A011-E8C4-5FCE2598E3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61A179-39B6-1F7F-F3C3-3956571BC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C7074-8DA1-E06F-67F8-DE6C26A8B0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0433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EB82E-E501-2183-D9A7-B90AA34B8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7B02B1-8FC7-C21B-7C47-0A959A8131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2ED0E6-AFD2-4DE0-DCAF-B0FF9868E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597841-ED2D-30E8-86D3-422BDA9885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3559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8F78D-3C26-8F8E-8490-31D5F5EE1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2C8A1E-00A1-ACCF-ECD7-DE0355831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CCCE1A-CD5D-0EE9-E350-8C6594ECCC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71F9FC-46C5-418C-863E-66CD5FAA64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628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nevecallaway/code/COSMIC-dFBA-nn/figures/logo_en_prime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5120640" cy="5120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00266" y="19659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fast neural surrogate of a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mechanistic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 bioreactor model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800266" y="3419115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i="1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final conditions from the first few days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800266" y="3957870"/>
            <a:ext cx="5760720" cy="1910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 Callaway</a:t>
            </a:r>
            <a:r>
              <a:rPr lang="en-US" sz="1600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Lewis Lab meeting  ·  2026</a:t>
            </a:r>
          </a:p>
          <a:p>
            <a:pPr marL="0" indent="0" algn="l">
              <a:buNone/>
            </a:pPr>
            <a:endParaRPr lang="en-US" sz="1600" dirty="0">
              <a:solidFill>
                <a:srgbClr val="7A6E5A"/>
              </a:solidFill>
              <a:latin typeface="Calibri" pitchFamily="34" charset="0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600" b="1" dirty="0">
                <a:solidFill>
                  <a:srgbClr val="7A6E5A"/>
                </a:solidFill>
                <a:latin typeface="Calibri" pitchFamily="34" charset="0"/>
                <a:cs typeface="Calibri" pitchFamily="34" charset="-120"/>
              </a:rPr>
              <a:t>Intern from Brigham Young University</a:t>
            </a:r>
          </a:p>
          <a:p>
            <a:pPr marL="0" indent="0" algn="l">
              <a:buNone/>
            </a:pPr>
            <a:r>
              <a:rPr lang="en-US" sz="1600" b="1" dirty="0">
                <a:solidFill>
                  <a:srgbClr val="7A6E5A"/>
                </a:solidFill>
                <a:latin typeface="Calibri" pitchFamily="34" charset="0"/>
                <a:cs typeface="Calibri" pitchFamily="34" charset="-120"/>
              </a:rPr>
              <a:t>B.S., Bioinformatics April 2027 expected graduation</a:t>
            </a:r>
          </a:p>
          <a:p>
            <a:pPr marL="0" indent="0" algn="l">
              <a:buNone/>
            </a:pPr>
            <a:endParaRPr lang="en-US" sz="1600" b="1" dirty="0">
              <a:solidFill>
                <a:srgbClr val="7A6E5A"/>
              </a:solidFill>
              <a:latin typeface="Calibri" pitchFamily="34" charset="0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600" b="1" dirty="0">
                <a:solidFill>
                  <a:srgbClr val="7A6E5A"/>
                </a:solidFill>
                <a:latin typeface="Calibri" pitchFamily="34" charset="0"/>
                <a:cs typeface="Calibri" pitchFamily="34" charset="-120"/>
              </a:rPr>
              <a:t>Kimberly </a:t>
            </a:r>
            <a:r>
              <a:rPr lang="en-US" sz="1600" b="1" dirty="0" err="1">
                <a:solidFill>
                  <a:srgbClr val="7A6E5A"/>
                </a:solidFill>
                <a:latin typeface="Calibri" pitchFamily="34" charset="0"/>
                <a:cs typeface="Calibri" pitchFamily="34" charset="-120"/>
              </a:rPr>
              <a:t>Robasky</a:t>
            </a:r>
            <a:r>
              <a:rPr lang="en-US" sz="1600" b="1" dirty="0">
                <a:solidFill>
                  <a:srgbClr val="7A6E5A"/>
                </a:solidFill>
                <a:latin typeface="Calibri" pitchFamily="34" charset="0"/>
                <a:cs typeface="Calibri" pitchFamily="34" charset="-120"/>
              </a:rPr>
              <a:t>, Sarat Gopalakrishnan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Train a Small Surrogate NN for COSMIC-</a:t>
            </a:r>
            <a:r>
              <a:rPr lang="en-US" sz="3200" b="1" dirty="0" err="1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dFBA</a:t>
            </a: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78031" y="2057400"/>
            <a:ext cx="438476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600" b="1" dirty="0">
                <a:solidFill>
                  <a:srgbClr val="6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model: </a:t>
            </a:r>
            <a:r>
              <a:rPr lang="en-US" sz="1600" dirty="0">
                <a:solidFill>
                  <a:srgbClr val="2B211A"/>
                </a:solidFill>
                <a:latin typeface="Calibri" pitchFamily="34" charset="0"/>
                <a:cs typeface="Calibri" pitchFamily="34" charset="-120"/>
              </a:rPr>
              <a:t>COSMIC dynamic flux balance analysis (</a:t>
            </a:r>
            <a:r>
              <a:rPr lang="en-US" sz="1600" dirty="0" err="1">
                <a:solidFill>
                  <a:srgbClr val="2B211A"/>
                </a:solidFill>
                <a:latin typeface="Calibri" pitchFamily="34" charset="0"/>
                <a:cs typeface="Calibri" pitchFamily="34" charset="-120"/>
              </a:rPr>
              <a:t>dFBA</a:t>
            </a:r>
            <a:r>
              <a:rPr lang="en-US" sz="1600" dirty="0">
                <a:solidFill>
                  <a:srgbClr val="2B211A"/>
                </a:solidFill>
                <a:latin typeface="Calibri" pitchFamily="34" charset="0"/>
                <a:cs typeface="Calibri" pitchFamily="34" charset="-120"/>
              </a:rPr>
              <a:t>) solves a system of ODEs to predict daily cell culture dynamics from metabolic rates (feed, washout, uptake, and secretion).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B211A"/>
                </a:solidFill>
                <a:latin typeface="Calibri" pitchFamily="34" charset="0"/>
                <a:cs typeface="Calibri" pitchFamily="34" charset="-120"/>
              </a:rPr>
              <a:t>Accurate, but computationally slow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4297679"/>
            <a:ext cx="4254978" cy="1817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600" b="1" dirty="0">
                <a:solidFill>
                  <a:srgbClr val="6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Create a NN to model cell culture</a:t>
            </a: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r>
              <a:rPr lang="en-US" sz="1600" dirty="0">
                <a:solidFill>
                  <a:srgbClr val="2B211A"/>
                </a:solidFill>
                <a:latin typeface="Calibri" pitchFamily="34" charset="0"/>
                <a:cs typeface="Calibri" pitchFamily="34" charset="-120"/>
              </a:rPr>
              <a:t> a small neural network trained on ODE computed synthetic data to forecast the remaining culture trajectories from early observations and operating conditions.</a:t>
            </a:r>
          </a:p>
        </p:txBody>
      </p:sp>
      <p:sp>
        <p:nvSpPr>
          <p:cNvPr id="6" name="Shape 4"/>
          <p:cNvSpPr/>
          <p:nvPr/>
        </p:nvSpPr>
        <p:spPr>
          <a:xfrm>
            <a:off x="7315200" y="1737360"/>
            <a:ext cx="4297680" cy="3840480"/>
          </a:xfrm>
          <a:prstGeom prst="roundRect">
            <a:avLst>
              <a:gd name="adj" fmla="val 2857"/>
            </a:avLst>
          </a:prstGeom>
          <a:solidFill>
            <a:srgbClr val="3A4A2E"/>
          </a:solidFill>
          <a:ln w="12700">
            <a:solidFill>
              <a:srgbClr val="3A4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35239" y="2057400"/>
            <a:ext cx="352847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i="1" dirty="0">
                <a:solidFill>
                  <a:srgbClr val="F3ECD8"/>
                </a:solidFill>
                <a:latin typeface="Cambria" pitchFamily="34" charset="0"/>
              </a:rPr>
              <a:t>EN PRIMEUR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635240" y="31546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3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term for the tradition of tasting a young wine from the barrel and predicting the final vintage before purchase.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35240" y="42976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500" i="1" dirty="0">
                <a:solidFill>
                  <a:srgbClr val="D7AC53"/>
                </a:solidFill>
                <a:latin typeface="Calibri" pitchFamily="34" charset="0"/>
                <a:cs typeface="Calibri" pitchFamily="34" charset="-120"/>
              </a:rPr>
              <a:t>Similarly, this framework learns to forecast a bioreactor’s trajectory and final conditions from early-run data.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B4B9CA2-4F94-2BFF-B5F0-146369A30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854" y="1881554"/>
            <a:ext cx="2714558" cy="34676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C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3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EN PRIMEUR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1783080"/>
          </a:xfrm>
          <a:prstGeom prst="roundRect">
            <a:avLst>
              <a:gd name="adj" fmla="val 4615"/>
            </a:avLst>
          </a:prstGeom>
          <a:solidFill>
            <a:srgbClr val="2F3A23"/>
          </a:solidFill>
          <a:ln w="15875">
            <a:solidFill>
              <a:srgbClr val="A282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1371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282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 Feature importance  →  media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8680" y="1938528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650" dirty="0">
                <a:solidFill>
                  <a:srgbClr val="F3ECD8"/>
                </a:solidFill>
                <a:latin typeface="Calibri" pitchFamily="34" charset="0"/>
                <a:cs typeface="Calibri" pitchFamily="34" charset="-120"/>
              </a:rPr>
              <a:t>If the neural network learns predictive relationships, feature attribution methods can identify which conditions and media components most influence the predictions.</a:t>
            </a:r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3535680" cy="2880360"/>
          </a:xfrm>
          <a:prstGeom prst="roundRect">
            <a:avLst>
              <a:gd name="adj" fmla="val 2540"/>
            </a:avLst>
          </a:prstGeom>
          <a:solidFill>
            <a:srgbClr val="2F3A23"/>
          </a:solidFill>
          <a:ln w="12700">
            <a:solidFill>
              <a:srgbClr val="4A5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3502152"/>
            <a:ext cx="298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282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 Differentiable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959352"/>
            <a:ext cx="298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C9B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4343400"/>
            <a:ext cx="2987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F3ECD8"/>
                </a:solidFill>
                <a:latin typeface="Calibri" pitchFamily="34" charset="0"/>
                <a:cs typeface="Calibri" pitchFamily="34" charset="-120"/>
              </a:rPr>
              <a:t>The neural network is end-to-end differentiable, enabling gradient-based optimization of inputs (e.g., maximizing titer).</a:t>
            </a:r>
          </a:p>
        </p:txBody>
      </p:sp>
      <p:sp>
        <p:nvSpPr>
          <p:cNvPr id="10" name="Shape 8"/>
          <p:cNvSpPr/>
          <p:nvPr/>
        </p:nvSpPr>
        <p:spPr>
          <a:xfrm>
            <a:off x="4312920" y="3246120"/>
            <a:ext cx="3535680" cy="2880360"/>
          </a:xfrm>
          <a:prstGeom prst="roundRect">
            <a:avLst>
              <a:gd name="adj" fmla="val 2540"/>
            </a:avLst>
          </a:prstGeom>
          <a:solidFill>
            <a:srgbClr val="2F3A23"/>
          </a:solidFill>
          <a:ln w="12700">
            <a:solidFill>
              <a:srgbClr val="4A5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87240" y="3502152"/>
            <a:ext cx="298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282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 Confidence limits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87240" y="3959352"/>
            <a:ext cx="298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C9B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87240" y="4343400"/>
            <a:ext cx="2987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F3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 report prediction confidence intervals as a range.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77200" y="3246120"/>
            <a:ext cx="3535680" cy="2880360"/>
          </a:xfrm>
          <a:prstGeom prst="roundRect">
            <a:avLst>
              <a:gd name="adj" fmla="val 2540"/>
            </a:avLst>
          </a:prstGeom>
          <a:solidFill>
            <a:srgbClr val="2F3A23"/>
          </a:solidFill>
          <a:ln w="12700">
            <a:solidFill>
              <a:srgbClr val="4A5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51520" y="3502152"/>
            <a:ext cx="298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282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 Faster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351520" y="3959352"/>
            <a:ext cx="298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C9B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confirm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351520" y="4343400"/>
            <a:ext cx="2987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F3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per run: cheap to scan conditions and retrain on demand.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F3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speed-vs-solver comparison is still to pin down (depends how COSMIC uses linear solvers).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2865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B7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another payoff that helps us optimize the production process.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 model: one 1D conv layer, 32 hidden nodes. Every node drawn as a dot.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 flipV="1">
            <a:off x="2103120" y="3611879"/>
            <a:ext cx="944878" cy="0"/>
          </a:xfrm>
          <a:prstGeom prst="line">
            <a:avLst/>
          </a:prstGeom>
          <a:noFill/>
          <a:ln w="25400">
            <a:solidFill>
              <a:srgbClr val="A2823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612562" y="3611879"/>
            <a:ext cx="1056717" cy="1"/>
          </a:xfrm>
          <a:prstGeom prst="line">
            <a:avLst/>
          </a:prstGeom>
          <a:noFill/>
          <a:ln w="25400">
            <a:solidFill>
              <a:srgbClr val="A2823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0" y="3611880"/>
            <a:ext cx="1417320" cy="0"/>
          </a:xfrm>
          <a:prstGeom prst="line">
            <a:avLst/>
          </a:prstGeom>
          <a:noFill/>
          <a:ln w="25400">
            <a:solidFill>
              <a:srgbClr val="A2823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549640" y="3611880"/>
            <a:ext cx="1417320" cy="0"/>
          </a:xfrm>
          <a:prstGeom prst="line">
            <a:avLst/>
          </a:prstGeom>
          <a:noFill/>
          <a:ln w="25400">
            <a:solidFill>
              <a:srgbClr val="A2823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705356" y="2299716"/>
            <a:ext cx="64008" cy="64008"/>
          </a:xfrm>
          <a:prstGeom prst="ellipse">
            <a:avLst/>
          </a:prstGeom>
          <a:solidFill>
            <a:srgbClr val="7A6E5A"/>
          </a:solidFill>
          <a:ln w="12700">
            <a:solidFill>
              <a:srgbClr val="7A6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705356" y="2619756"/>
            <a:ext cx="64008" cy="64008"/>
          </a:xfrm>
          <a:prstGeom prst="ellipse">
            <a:avLst/>
          </a:prstGeom>
          <a:solidFill>
            <a:srgbClr val="7A6E5A"/>
          </a:solidFill>
          <a:ln w="12700">
            <a:solidFill>
              <a:srgbClr val="7A6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705356" y="2939796"/>
            <a:ext cx="64008" cy="64008"/>
          </a:xfrm>
          <a:prstGeom prst="ellipse">
            <a:avLst/>
          </a:prstGeom>
          <a:solidFill>
            <a:srgbClr val="7A6E5A"/>
          </a:solidFill>
          <a:ln w="12700">
            <a:solidFill>
              <a:srgbClr val="7A6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705356" y="3259836"/>
            <a:ext cx="64008" cy="64008"/>
          </a:xfrm>
          <a:prstGeom prst="ellipse">
            <a:avLst/>
          </a:prstGeom>
          <a:solidFill>
            <a:srgbClr val="7A6E5A"/>
          </a:solidFill>
          <a:ln w="12700">
            <a:solidFill>
              <a:srgbClr val="7A6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705356" y="3579876"/>
            <a:ext cx="64008" cy="64008"/>
          </a:xfrm>
          <a:prstGeom prst="ellipse">
            <a:avLst/>
          </a:prstGeom>
          <a:solidFill>
            <a:srgbClr val="7A6E5A"/>
          </a:solidFill>
          <a:ln w="12700">
            <a:solidFill>
              <a:srgbClr val="7A6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705356" y="3899916"/>
            <a:ext cx="64008" cy="64008"/>
          </a:xfrm>
          <a:prstGeom prst="ellipse">
            <a:avLst/>
          </a:prstGeom>
          <a:solidFill>
            <a:srgbClr val="7A6E5A"/>
          </a:solidFill>
          <a:ln w="12700">
            <a:solidFill>
              <a:srgbClr val="7A6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705356" y="4219956"/>
            <a:ext cx="64008" cy="64008"/>
          </a:xfrm>
          <a:prstGeom prst="ellipse">
            <a:avLst/>
          </a:prstGeom>
          <a:solidFill>
            <a:srgbClr val="7A6E5A"/>
          </a:solidFill>
          <a:ln w="12700">
            <a:solidFill>
              <a:srgbClr val="7A6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705356" y="4539996"/>
            <a:ext cx="64008" cy="64008"/>
          </a:xfrm>
          <a:prstGeom prst="ellipse">
            <a:avLst/>
          </a:prstGeom>
          <a:solidFill>
            <a:srgbClr val="7A6E5A"/>
          </a:solidFill>
          <a:ln w="12700">
            <a:solidFill>
              <a:srgbClr val="7A6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705356" y="4860036"/>
            <a:ext cx="64008" cy="64008"/>
          </a:xfrm>
          <a:prstGeom prst="ellipse">
            <a:avLst/>
          </a:prstGeom>
          <a:solidFill>
            <a:srgbClr val="7A6E5A"/>
          </a:solidFill>
          <a:ln w="12700">
            <a:solidFill>
              <a:srgbClr val="7A6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5029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5349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(x 6 days)</a:t>
            </a:r>
            <a:endParaRPr lang="en-US" sz="1200" dirty="0"/>
          </a:p>
        </p:txBody>
      </p: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8B8989B1-283C-376C-D69D-D64CF4CA16B1}"/>
              </a:ext>
            </a:extLst>
          </p:cNvPr>
          <p:cNvGrpSpPr/>
          <p:nvPr/>
        </p:nvGrpSpPr>
        <p:grpSpPr>
          <a:xfrm>
            <a:off x="4170717" y="2299716"/>
            <a:ext cx="64008" cy="2624328"/>
            <a:chOff x="3854196" y="2299716"/>
            <a:chExt cx="64008" cy="2624328"/>
          </a:xfrm>
        </p:grpSpPr>
        <p:sp>
          <p:nvSpPr>
            <p:cNvPr id="19" name="Shape 17"/>
            <p:cNvSpPr/>
            <p:nvPr/>
          </p:nvSpPr>
          <p:spPr>
            <a:xfrm>
              <a:off x="3854196" y="2299716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Shape 18"/>
            <p:cNvSpPr/>
            <p:nvPr/>
          </p:nvSpPr>
          <p:spPr>
            <a:xfrm>
              <a:off x="3854196" y="2382307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Shape 19"/>
            <p:cNvSpPr/>
            <p:nvPr/>
          </p:nvSpPr>
          <p:spPr>
            <a:xfrm>
              <a:off x="3854196" y="2464898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20"/>
            <p:cNvSpPr/>
            <p:nvPr/>
          </p:nvSpPr>
          <p:spPr>
            <a:xfrm>
              <a:off x="3854196" y="2547489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Shape 21"/>
            <p:cNvSpPr/>
            <p:nvPr/>
          </p:nvSpPr>
          <p:spPr>
            <a:xfrm>
              <a:off x="3854196" y="2630080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Shape 22"/>
            <p:cNvSpPr/>
            <p:nvPr/>
          </p:nvSpPr>
          <p:spPr>
            <a:xfrm>
              <a:off x="3854196" y="2712671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Shape 23"/>
            <p:cNvSpPr/>
            <p:nvPr/>
          </p:nvSpPr>
          <p:spPr>
            <a:xfrm>
              <a:off x="3854196" y="2795262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24"/>
            <p:cNvSpPr/>
            <p:nvPr/>
          </p:nvSpPr>
          <p:spPr>
            <a:xfrm>
              <a:off x="3854196" y="2877853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Shape 25"/>
            <p:cNvSpPr/>
            <p:nvPr/>
          </p:nvSpPr>
          <p:spPr>
            <a:xfrm>
              <a:off x="3854196" y="2960444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Shape 26"/>
            <p:cNvSpPr/>
            <p:nvPr/>
          </p:nvSpPr>
          <p:spPr>
            <a:xfrm>
              <a:off x="3854196" y="3043035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Shape 27"/>
            <p:cNvSpPr/>
            <p:nvPr/>
          </p:nvSpPr>
          <p:spPr>
            <a:xfrm>
              <a:off x="3854196" y="3125626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28"/>
            <p:cNvSpPr/>
            <p:nvPr/>
          </p:nvSpPr>
          <p:spPr>
            <a:xfrm>
              <a:off x="3854196" y="3208217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Shape 29"/>
            <p:cNvSpPr/>
            <p:nvPr/>
          </p:nvSpPr>
          <p:spPr>
            <a:xfrm>
              <a:off x="3854196" y="3290808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Shape 30"/>
            <p:cNvSpPr/>
            <p:nvPr/>
          </p:nvSpPr>
          <p:spPr>
            <a:xfrm>
              <a:off x="3854196" y="3373399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31"/>
            <p:cNvSpPr/>
            <p:nvPr/>
          </p:nvSpPr>
          <p:spPr>
            <a:xfrm>
              <a:off x="3854196" y="3455990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Shape 32"/>
            <p:cNvSpPr/>
            <p:nvPr/>
          </p:nvSpPr>
          <p:spPr>
            <a:xfrm>
              <a:off x="3854196" y="3538581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Shape 33"/>
            <p:cNvSpPr/>
            <p:nvPr/>
          </p:nvSpPr>
          <p:spPr>
            <a:xfrm>
              <a:off x="3854196" y="3621171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Shape 34"/>
            <p:cNvSpPr/>
            <p:nvPr/>
          </p:nvSpPr>
          <p:spPr>
            <a:xfrm>
              <a:off x="3854196" y="3703762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Shape 35"/>
            <p:cNvSpPr/>
            <p:nvPr/>
          </p:nvSpPr>
          <p:spPr>
            <a:xfrm>
              <a:off x="3854196" y="3786353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Shape 36"/>
            <p:cNvSpPr/>
            <p:nvPr/>
          </p:nvSpPr>
          <p:spPr>
            <a:xfrm>
              <a:off x="3854196" y="3868944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37"/>
            <p:cNvSpPr/>
            <p:nvPr/>
          </p:nvSpPr>
          <p:spPr>
            <a:xfrm>
              <a:off x="3854196" y="3951535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8"/>
            <p:cNvSpPr/>
            <p:nvPr/>
          </p:nvSpPr>
          <p:spPr>
            <a:xfrm>
              <a:off x="3854196" y="4034126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39"/>
            <p:cNvSpPr/>
            <p:nvPr/>
          </p:nvSpPr>
          <p:spPr>
            <a:xfrm>
              <a:off x="3854196" y="4116717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40"/>
            <p:cNvSpPr/>
            <p:nvPr/>
          </p:nvSpPr>
          <p:spPr>
            <a:xfrm>
              <a:off x="3854196" y="4199308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41"/>
            <p:cNvSpPr/>
            <p:nvPr/>
          </p:nvSpPr>
          <p:spPr>
            <a:xfrm>
              <a:off x="3854196" y="4281899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42"/>
            <p:cNvSpPr/>
            <p:nvPr/>
          </p:nvSpPr>
          <p:spPr>
            <a:xfrm>
              <a:off x="3854196" y="4364490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43"/>
            <p:cNvSpPr/>
            <p:nvPr/>
          </p:nvSpPr>
          <p:spPr>
            <a:xfrm>
              <a:off x="3854196" y="4447081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44"/>
            <p:cNvSpPr/>
            <p:nvPr/>
          </p:nvSpPr>
          <p:spPr>
            <a:xfrm>
              <a:off x="3854196" y="4529672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Shape 45"/>
            <p:cNvSpPr/>
            <p:nvPr/>
          </p:nvSpPr>
          <p:spPr>
            <a:xfrm>
              <a:off x="3854196" y="4612263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46"/>
            <p:cNvSpPr/>
            <p:nvPr/>
          </p:nvSpPr>
          <p:spPr>
            <a:xfrm>
              <a:off x="3854196" y="4694854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47"/>
            <p:cNvSpPr/>
            <p:nvPr/>
          </p:nvSpPr>
          <p:spPr>
            <a:xfrm>
              <a:off x="3854196" y="4777445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48"/>
            <p:cNvSpPr/>
            <p:nvPr/>
          </p:nvSpPr>
          <p:spPr>
            <a:xfrm>
              <a:off x="3854196" y="4860036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" name="Text 49"/>
          <p:cNvSpPr/>
          <p:nvPr/>
        </p:nvSpPr>
        <p:spPr>
          <a:xfrm>
            <a:off x="2504301" y="5029200"/>
            <a:ext cx="32476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1D CNN → Attention pool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3047998" y="5349240"/>
            <a:ext cx="8266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(x 6 days)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003036" y="2299716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003036" y="2375020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003036" y="2450323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003036" y="2525627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003036" y="2600930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003036" y="2676234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003036" y="2751537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6003036" y="2826841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6003036" y="2902144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003036" y="2977448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6003036" y="3052751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6003036" y="3128055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6003036" y="3203358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6003036" y="3278662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6003036" y="3353965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6003036" y="3429269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6003036" y="3504572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6003036" y="3579876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6003036" y="3655180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6003036" y="3730483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6003036" y="3805787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6003036" y="3881090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6003036" y="3956394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6003036" y="4031697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6003036" y="4107001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6003036" y="4182304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6003036" y="4257608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6003036" y="4332911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6003036" y="4408215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6003036" y="4483518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6003036" y="4558822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6003036" y="4634125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6003036" y="4709429"/>
            <a:ext cx="64008" cy="64008"/>
          </a:xfrm>
          <a:prstGeom prst="ellipse">
            <a:avLst/>
          </a:prstGeom>
          <a:solidFill>
            <a:srgbClr val="A2823E"/>
          </a:solidFill>
          <a:ln w="12700">
            <a:solidFill>
              <a:srgbClr val="A282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6003036" y="4784732"/>
            <a:ext cx="64008" cy="64008"/>
          </a:xfrm>
          <a:prstGeom prst="ellipse">
            <a:avLst/>
          </a:prstGeom>
          <a:solidFill>
            <a:srgbClr val="A2823E"/>
          </a:solidFill>
          <a:ln w="12700">
            <a:solidFill>
              <a:srgbClr val="A282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6003036" y="4860036"/>
            <a:ext cx="64008" cy="64008"/>
          </a:xfrm>
          <a:prstGeom prst="ellipse">
            <a:avLst/>
          </a:prstGeom>
          <a:solidFill>
            <a:srgbClr val="A2823E"/>
          </a:solidFill>
          <a:ln w="12700">
            <a:solidFill>
              <a:srgbClr val="A282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5029200" y="5029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DoE</a:t>
            </a:r>
            <a:endParaRPr lang="en-US" sz="1400" dirty="0"/>
          </a:p>
        </p:txBody>
      </p:sp>
      <p:sp>
        <p:nvSpPr>
          <p:cNvPr id="89" name="Text 87"/>
          <p:cNvSpPr/>
          <p:nvPr/>
        </p:nvSpPr>
        <p:spPr>
          <a:xfrm>
            <a:off x="5029200" y="5349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8151876" y="2299716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8151876" y="2382307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8151876" y="2464898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8151876" y="2547489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8151876" y="2630080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8151876" y="2712671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8151876" y="2795262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8151876" y="2877853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8151876" y="2960444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8151876" y="3043035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8151876" y="3125626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8151876" y="3208217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8151876" y="3290808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8151876" y="3373399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8151876" y="3455990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8151876" y="3538581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8151876" y="3621171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8151876" y="3703762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8151876" y="3786353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8151876" y="3868944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8151876" y="3951535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8151876" y="4034126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8151876" y="4116717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8151876" y="4199308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8151876" y="4281899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8151876" y="4364490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8151876" y="4447081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8151876" y="4529672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8151876" y="4612263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8151876" y="4694854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8151876" y="4777445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8151876" y="4860036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7178040" y="5029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</a:t>
            </a:r>
            <a:endParaRPr lang="en-US" sz="1400" dirty="0"/>
          </a:p>
        </p:txBody>
      </p:sp>
      <p:sp>
        <p:nvSpPr>
          <p:cNvPr id="123" name="Text 121"/>
          <p:cNvSpPr/>
          <p:nvPr/>
        </p:nvSpPr>
        <p:spPr>
          <a:xfrm>
            <a:off x="7178040" y="5349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200" dirty="0"/>
          </a:p>
        </p:txBody>
      </p:sp>
      <p:sp>
        <p:nvSpPr>
          <p:cNvPr id="124" name="Shape 122"/>
          <p:cNvSpPr/>
          <p:nvPr/>
        </p:nvSpPr>
        <p:spPr>
          <a:xfrm>
            <a:off x="10300716" y="2299716"/>
            <a:ext cx="64008" cy="64008"/>
          </a:xfrm>
          <a:prstGeom prst="ellipse">
            <a:avLst/>
          </a:prstGeom>
          <a:solidFill>
            <a:srgbClr val="3A4A2E"/>
          </a:solidFill>
          <a:ln w="12700">
            <a:solidFill>
              <a:srgbClr val="3A4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10300716" y="2665476"/>
            <a:ext cx="64008" cy="64008"/>
          </a:xfrm>
          <a:prstGeom prst="ellipse">
            <a:avLst/>
          </a:prstGeom>
          <a:solidFill>
            <a:srgbClr val="3A4A2E"/>
          </a:solidFill>
          <a:ln w="12700">
            <a:solidFill>
              <a:srgbClr val="3A4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10300716" y="3031236"/>
            <a:ext cx="64008" cy="64008"/>
          </a:xfrm>
          <a:prstGeom prst="ellipse">
            <a:avLst/>
          </a:prstGeom>
          <a:solidFill>
            <a:srgbClr val="3A4A2E"/>
          </a:solidFill>
          <a:ln w="12700">
            <a:solidFill>
              <a:srgbClr val="3A4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10300716" y="3396996"/>
            <a:ext cx="64008" cy="64008"/>
          </a:xfrm>
          <a:prstGeom prst="ellipse">
            <a:avLst/>
          </a:prstGeom>
          <a:solidFill>
            <a:srgbClr val="3A4A2E"/>
          </a:solidFill>
          <a:ln w="12700">
            <a:solidFill>
              <a:srgbClr val="3A4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10300716" y="3762756"/>
            <a:ext cx="64008" cy="64008"/>
          </a:xfrm>
          <a:prstGeom prst="ellipse">
            <a:avLst/>
          </a:prstGeom>
          <a:solidFill>
            <a:srgbClr val="3A4A2E"/>
          </a:solidFill>
          <a:ln w="12700">
            <a:solidFill>
              <a:srgbClr val="3A4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10300716" y="4128516"/>
            <a:ext cx="64008" cy="64008"/>
          </a:xfrm>
          <a:prstGeom prst="ellipse">
            <a:avLst/>
          </a:prstGeom>
          <a:solidFill>
            <a:srgbClr val="3A4A2E"/>
          </a:solidFill>
          <a:ln w="12700">
            <a:solidFill>
              <a:srgbClr val="3A4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10300716" y="4494276"/>
            <a:ext cx="64008" cy="64008"/>
          </a:xfrm>
          <a:prstGeom prst="ellipse">
            <a:avLst/>
          </a:prstGeom>
          <a:solidFill>
            <a:srgbClr val="3A4A2E"/>
          </a:solidFill>
          <a:ln w="12700">
            <a:solidFill>
              <a:srgbClr val="3A4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10300716" y="4860036"/>
            <a:ext cx="64008" cy="64008"/>
          </a:xfrm>
          <a:prstGeom prst="ellipse">
            <a:avLst/>
          </a:prstGeom>
          <a:solidFill>
            <a:srgbClr val="3A4A2E"/>
          </a:solidFill>
          <a:ln w="12700">
            <a:solidFill>
              <a:srgbClr val="3A4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30"/>
          <p:cNvSpPr/>
          <p:nvPr/>
        </p:nvSpPr>
        <p:spPr>
          <a:xfrm>
            <a:off x="9326880" y="5029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day</a:t>
            </a:r>
            <a:endParaRPr lang="en-US" sz="1400" dirty="0"/>
          </a:p>
        </p:txBody>
      </p:sp>
      <p:sp>
        <p:nvSpPr>
          <p:cNvPr id="133" name="Text 131"/>
          <p:cNvSpPr/>
          <p:nvPr/>
        </p:nvSpPr>
        <p:spPr>
          <a:xfrm>
            <a:off x="9326880" y="5349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134" name="Text 132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7A6E5A"/>
                </a:solidFill>
                <a:latin typeface="Calibri" pitchFamily="34" charset="0"/>
                <a:cs typeface="Calibri" pitchFamily="34" charset="-120"/>
              </a:rPr>
              <a:t>Arrows = flow between layers, not full connectivity. Gold dots = the 3 DoE (operating-condition) inputs.</a:t>
            </a:r>
          </a:p>
        </p:txBody>
      </p:sp>
      <p:sp>
        <p:nvSpPr>
          <p:cNvPr id="135" name="Text 133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7A6E5A"/>
                </a:solidFill>
                <a:latin typeface="Calibri" pitchFamily="34" charset="0"/>
                <a:cs typeface="Calibri" pitchFamily="34" charset="-120"/>
              </a:rPr>
              <a:t>Each prediction feeds back in to forecast the rest of the run. The hybrid and PINN variants add a flux head (32 → 8), feeding an ODE step or a physics penalty.</a:t>
            </a:r>
          </a:p>
        </p:txBody>
      </p:sp>
      <p:sp>
        <p:nvSpPr>
          <p:cNvPr id="136" name="Text 49">
            <a:extLst>
              <a:ext uri="{FF2B5EF4-FFF2-40B4-BE49-F238E27FC236}">
                <a16:creationId xmlns:a16="http://schemas.microsoft.com/office/drawing/2014/main" id="{7E6CE3A4-79F4-DA4B-2991-2A01BE71B498}"/>
              </a:ext>
            </a:extLst>
          </p:cNvPr>
          <p:cNvSpPr/>
          <p:nvPr/>
        </p:nvSpPr>
        <p:spPr>
          <a:xfrm>
            <a:off x="3047998" y="1740429"/>
            <a:ext cx="26295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 summary of all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rgbClr val="2B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previous days</a:t>
            </a:r>
            <a:endParaRPr lang="en-US" sz="1200" dirty="0"/>
          </a:p>
        </p:txBody>
      </p:sp>
      <p:sp>
        <p:nvSpPr>
          <p:cNvPr id="137" name="Text 50">
            <a:extLst>
              <a:ext uri="{FF2B5EF4-FFF2-40B4-BE49-F238E27FC236}">
                <a16:creationId xmlns:a16="http://schemas.microsoft.com/office/drawing/2014/main" id="{07788107-F47D-5F5C-A296-5C82E4390DB4}"/>
              </a:ext>
            </a:extLst>
          </p:cNvPr>
          <p:cNvSpPr/>
          <p:nvPr/>
        </p:nvSpPr>
        <p:spPr>
          <a:xfrm>
            <a:off x="4128102" y="5359563"/>
            <a:ext cx="8266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200" dirty="0"/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16526D44-E8C9-0BDA-F48D-B9A3D392C7C0}"/>
              </a:ext>
            </a:extLst>
          </p:cNvPr>
          <p:cNvGrpSpPr/>
          <p:nvPr/>
        </p:nvGrpSpPr>
        <p:grpSpPr>
          <a:xfrm>
            <a:off x="3418330" y="2299716"/>
            <a:ext cx="64008" cy="2624328"/>
            <a:chOff x="4006596" y="2452116"/>
            <a:chExt cx="64008" cy="2624328"/>
          </a:xfrm>
        </p:grpSpPr>
        <p:sp>
          <p:nvSpPr>
            <p:cNvPr id="138" name="Shape 17">
              <a:extLst>
                <a:ext uri="{FF2B5EF4-FFF2-40B4-BE49-F238E27FC236}">
                  <a16:creationId xmlns:a16="http://schemas.microsoft.com/office/drawing/2014/main" id="{9AB5D988-CA6F-EC40-61BD-44A68A0B228D}"/>
                </a:ext>
              </a:extLst>
            </p:cNvPr>
            <p:cNvSpPr/>
            <p:nvPr/>
          </p:nvSpPr>
          <p:spPr>
            <a:xfrm>
              <a:off x="4006596" y="2452116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Shape 18">
              <a:extLst>
                <a:ext uri="{FF2B5EF4-FFF2-40B4-BE49-F238E27FC236}">
                  <a16:creationId xmlns:a16="http://schemas.microsoft.com/office/drawing/2014/main" id="{533AFF3A-1723-533A-3502-C742434BF4F1}"/>
                </a:ext>
              </a:extLst>
            </p:cNvPr>
            <p:cNvSpPr/>
            <p:nvPr/>
          </p:nvSpPr>
          <p:spPr>
            <a:xfrm>
              <a:off x="4006596" y="2534707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Shape 19">
              <a:extLst>
                <a:ext uri="{FF2B5EF4-FFF2-40B4-BE49-F238E27FC236}">
                  <a16:creationId xmlns:a16="http://schemas.microsoft.com/office/drawing/2014/main" id="{F5784647-5A76-F2E6-4431-66C5C7C38E1E}"/>
                </a:ext>
              </a:extLst>
            </p:cNvPr>
            <p:cNvSpPr/>
            <p:nvPr/>
          </p:nvSpPr>
          <p:spPr>
            <a:xfrm>
              <a:off x="4006596" y="2617298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Shape 20">
              <a:extLst>
                <a:ext uri="{FF2B5EF4-FFF2-40B4-BE49-F238E27FC236}">
                  <a16:creationId xmlns:a16="http://schemas.microsoft.com/office/drawing/2014/main" id="{518DFCD3-A2EB-03C5-892D-20E1EAFBFC4F}"/>
                </a:ext>
              </a:extLst>
            </p:cNvPr>
            <p:cNvSpPr/>
            <p:nvPr/>
          </p:nvSpPr>
          <p:spPr>
            <a:xfrm>
              <a:off x="4006596" y="2699889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Shape 21">
              <a:extLst>
                <a:ext uri="{FF2B5EF4-FFF2-40B4-BE49-F238E27FC236}">
                  <a16:creationId xmlns:a16="http://schemas.microsoft.com/office/drawing/2014/main" id="{E6536D88-B4CC-09D5-D2D6-2F9349D29270}"/>
                </a:ext>
              </a:extLst>
            </p:cNvPr>
            <p:cNvSpPr/>
            <p:nvPr/>
          </p:nvSpPr>
          <p:spPr>
            <a:xfrm>
              <a:off x="4006596" y="2782480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Shape 22">
              <a:extLst>
                <a:ext uri="{FF2B5EF4-FFF2-40B4-BE49-F238E27FC236}">
                  <a16:creationId xmlns:a16="http://schemas.microsoft.com/office/drawing/2014/main" id="{CBDC8FCB-F4B1-5DFD-0D9C-9E17461CE149}"/>
                </a:ext>
              </a:extLst>
            </p:cNvPr>
            <p:cNvSpPr/>
            <p:nvPr/>
          </p:nvSpPr>
          <p:spPr>
            <a:xfrm>
              <a:off x="4006596" y="2865071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Shape 23">
              <a:extLst>
                <a:ext uri="{FF2B5EF4-FFF2-40B4-BE49-F238E27FC236}">
                  <a16:creationId xmlns:a16="http://schemas.microsoft.com/office/drawing/2014/main" id="{C409A3EF-E367-6321-5343-18E20942476A}"/>
                </a:ext>
              </a:extLst>
            </p:cNvPr>
            <p:cNvSpPr/>
            <p:nvPr/>
          </p:nvSpPr>
          <p:spPr>
            <a:xfrm>
              <a:off x="4006596" y="2947662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Shape 24">
              <a:extLst>
                <a:ext uri="{FF2B5EF4-FFF2-40B4-BE49-F238E27FC236}">
                  <a16:creationId xmlns:a16="http://schemas.microsoft.com/office/drawing/2014/main" id="{25019FC9-924E-0D90-54FD-952E7A41BCCE}"/>
                </a:ext>
              </a:extLst>
            </p:cNvPr>
            <p:cNvSpPr/>
            <p:nvPr/>
          </p:nvSpPr>
          <p:spPr>
            <a:xfrm>
              <a:off x="4006596" y="3030253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Shape 25">
              <a:extLst>
                <a:ext uri="{FF2B5EF4-FFF2-40B4-BE49-F238E27FC236}">
                  <a16:creationId xmlns:a16="http://schemas.microsoft.com/office/drawing/2014/main" id="{3B02E5BF-EB12-7365-F25E-27A4F94F5B2F}"/>
                </a:ext>
              </a:extLst>
            </p:cNvPr>
            <p:cNvSpPr/>
            <p:nvPr/>
          </p:nvSpPr>
          <p:spPr>
            <a:xfrm>
              <a:off x="4006596" y="3112844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Shape 26">
              <a:extLst>
                <a:ext uri="{FF2B5EF4-FFF2-40B4-BE49-F238E27FC236}">
                  <a16:creationId xmlns:a16="http://schemas.microsoft.com/office/drawing/2014/main" id="{385453A5-E32C-0E03-A51C-0CAE78B4D3A6}"/>
                </a:ext>
              </a:extLst>
            </p:cNvPr>
            <p:cNvSpPr/>
            <p:nvPr/>
          </p:nvSpPr>
          <p:spPr>
            <a:xfrm>
              <a:off x="4006596" y="3195435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Shape 27">
              <a:extLst>
                <a:ext uri="{FF2B5EF4-FFF2-40B4-BE49-F238E27FC236}">
                  <a16:creationId xmlns:a16="http://schemas.microsoft.com/office/drawing/2014/main" id="{273BC2C9-E337-B8D5-9388-6A0F7206A85C}"/>
                </a:ext>
              </a:extLst>
            </p:cNvPr>
            <p:cNvSpPr/>
            <p:nvPr/>
          </p:nvSpPr>
          <p:spPr>
            <a:xfrm>
              <a:off x="4006596" y="3278026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Shape 28">
              <a:extLst>
                <a:ext uri="{FF2B5EF4-FFF2-40B4-BE49-F238E27FC236}">
                  <a16:creationId xmlns:a16="http://schemas.microsoft.com/office/drawing/2014/main" id="{4A4C3FDB-F048-D47F-6E70-4E58A42FD49B}"/>
                </a:ext>
              </a:extLst>
            </p:cNvPr>
            <p:cNvSpPr/>
            <p:nvPr/>
          </p:nvSpPr>
          <p:spPr>
            <a:xfrm>
              <a:off x="4006596" y="3360617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Shape 29">
              <a:extLst>
                <a:ext uri="{FF2B5EF4-FFF2-40B4-BE49-F238E27FC236}">
                  <a16:creationId xmlns:a16="http://schemas.microsoft.com/office/drawing/2014/main" id="{BC61195D-F2D0-EA7F-2256-22C2AB8F1A2F}"/>
                </a:ext>
              </a:extLst>
            </p:cNvPr>
            <p:cNvSpPr/>
            <p:nvPr/>
          </p:nvSpPr>
          <p:spPr>
            <a:xfrm>
              <a:off x="4006596" y="3443208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Shape 30">
              <a:extLst>
                <a:ext uri="{FF2B5EF4-FFF2-40B4-BE49-F238E27FC236}">
                  <a16:creationId xmlns:a16="http://schemas.microsoft.com/office/drawing/2014/main" id="{051E2E95-01EA-2B2E-E1F2-01DB8B1180E7}"/>
                </a:ext>
              </a:extLst>
            </p:cNvPr>
            <p:cNvSpPr/>
            <p:nvPr/>
          </p:nvSpPr>
          <p:spPr>
            <a:xfrm>
              <a:off x="4006596" y="3525799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Shape 31">
              <a:extLst>
                <a:ext uri="{FF2B5EF4-FFF2-40B4-BE49-F238E27FC236}">
                  <a16:creationId xmlns:a16="http://schemas.microsoft.com/office/drawing/2014/main" id="{6D8EE34C-C896-0FAA-4099-505DBA5F2530}"/>
                </a:ext>
              </a:extLst>
            </p:cNvPr>
            <p:cNvSpPr/>
            <p:nvPr/>
          </p:nvSpPr>
          <p:spPr>
            <a:xfrm>
              <a:off x="4006596" y="3608390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Shape 32">
              <a:extLst>
                <a:ext uri="{FF2B5EF4-FFF2-40B4-BE49-F238E27FC236}">
                  <a16:creationId xmlns:a16="http://schemas.microsoft.com/office/drawing/2014/main" id="{D7D16039-EB5D-3763-741D-1242F3B6B358}"/>
                </a:ext>
              </a:extLst>
            </p:cNvPr>
            <p:cNvSpPr/>
            <p:nvPr/>
          </p:nvSpPr>
          <p:spPr>
            <a:xfrm>
              <a:off x="4006596" y="3690981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Shape 33">
              <a:extLst>
                <a:ext uri="{FF2B5EF4-FFF2-40B4-BE49-F238E27FC236}">
                  <a16:creationId xmlns:a16="http://schemas.microsoft.com/office/drawing/2014/main" id="{18574732-4177-A873-97F3-D51B0F0AC7A4}"/>
                </a:ext>
              </a:extLst>
            </p:cNvPr>
            <p:cNvSpPr/>
            <p:nvPr/>
          </p:nvSpPr>
          <p:spPr>
            <a:xfrm>
              <a:off x="4006596" y="3773571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Shape 34">
              <a:extLst>
                <a:ext uri="{FF2B5EF4-FFF2-40B4-BE49-F238E27FC236}">
                  <a16:creationId xmlns:a16="http://schemas.microsoft.com/office/drawing/2014/main" id="{3140D1A0-C890-82CE-C8D8-CDAD4957B5A7}"/>
                </a:ext>
              </a:extLst>
            </p:cNvPr>
            <p:cNvSpPr/>
            <p:nvPr/>
          </p:nvSpPr>
          <p:spPr>
            <a:xfrm>
              <a:off x="4006596" y="3856162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Shape 35">
              <a:extLst>
                <a:ext uri="{FF2B5EF4-FFF2-40B4-BE49-F238E27FC236}">
                  <a16:creationId xmlns:a16="http://schemas.microsoft.com/office/drawing/2014/main" id="{9317B0B4-2E34-E996-2958-E392CAFE0AF9}"/>
                </a:ext>
              </a:extLst>
            </p:cNvPr>
            <p:cNvSpPr/>
            <p:nvPr/>
          </p:nvSpPr>
          <p:spPr>
            <a:xfrm>
              <a:off x="4006596" y="3938753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Shape 36">
              <a:extLst>
                <a:ext uri="{FF2B5EF4-FFF2-40B4-BE49-F238E27FC236}">
                  <a16:creationId xmlns:a16="http://schemas.microsoft.com/office/drawing/2014/main" id="{33629561-1BD6-8DBF-3D73-7F0D79C264FF}"/>
                </a:ext>
              </a:extLst>
            </p:cNvPr>
            <p:cNvSpPr/>
            <p:nvPr/>
          </p:nvSpPr>
          <p:spPr>
            <a:xfrm>
              <a:off x="4006596" y="4021344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Shape 37">
              <a:extLst>
                <a:ext uri="{FF2B5EF4-FFF2-40B4-BE49-F238E27FC236}">
                  <a16:creationId xmlns:a16="http://schemas.microsoft.com/office/drawing/2014/main" id="{7240DE26-ED57-D1E9-56AA-A22CB709EF71}"/>
                </a:ext>
              </a:extLst>
            </p:cNvPr>
            <p:cNvSpPr/>
            <p:nvPr/>
          </p:nvSpPr>
          <p:spPr>
            <a:xfrm>
              <a:off x="4006596" y="4103935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Shape 38">
              <a:extLst>
                <a:ext uri="{FF2B5EF4-FFF2-40B4-BE49-F238E27FC236}">
                  <a16:creationId xmlns:a16="http://schemas.microsoft.com/office/drawing/2014/main" id="{294DCDB9-82BD-163B-6240-921C3CF64695}"/>
                </a:ext>
              </a:extLst>
            </p:cNvPr>
            <p:cNvSpPr/>
            <p:nvPr/>
          </p:nvSpPr>
          <p:spPr>
            <a:xfrm>
              <a:off x="4006596" y="4186526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Shape 39">
              <a:extLst>
                <a:ext uri="{FF2B5EF4-FFF2-40B4-BE49-F238E27FC236}">
                  <a16:creationId xmlns:a16="http://schemas.microsoft.com/office/drawing/2014/main" id="{52F9EC7F-71B7-F1DC-27F1-0CE3D4B09FBD}"/>
                </a:ext>
              </a:extLst>
            </p:cNvPr>
            <p:cNvSpPr/>
            <p:nvPr/>
          </p:nvSpPr>
          <p:spPr>
            <a:xfrm>
              <a:off x="4006596" y="4269117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1" name="Shape 40">
              <a:extLst>
                <a:ext uri="{FF2B5EF4-FFF2-40B4-BE49-F238E27FC236}">
                  <a16:creationId xmlns:a16="http://schemas.microsoft.com/office/drawing/2014/main" id="{07E0B188-17AA-5D7B-BEA2-08F35F99FFB9}"/>
                </a:ext>
              </a:extLst>
            </p:cNvPr>
            <p:cNvSpPr/>
            <p:nvPr/>
          </p:nvSpPr>
          <p:spPr>
            <a:xfrm>
              <a:off x="4006596" y="4351708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Shape 41">
              <a:extLst>
                <a:ext uri="{FF2B5EF4-FFF2-40B4-BE49-F238E27FC236}">
                  <a16:creationId xmlns:a16="http://schemas.microsoft.com/office/drawing/2014/main" id="{E3F5BABC-06A0-4A4E-C144-A50DC89C54BF}"/>
                </a:ext>
              </a:extLst>
            </p:cNvPr>
            <p:cNvSpPr/>
            <p:nvPr/>
          </p:nvSpPr>
          <p:spPr>
            <a:xfrm>
              <a:off x="4006596" y="4434299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" name="Shape 42">
              <a:extLst>
                <a:ext uri="{FF2B5EF4-FFF2-40B4-BE49-F238E27FC236}">
                  <a16:creationId xmlns:a16="http://schemas.microsoft.com/office/drawing/2014/main" id="{E14DFCD5-8216-EBCC-EC52-5C1D3E9F990D}"/>
                </a:ext>
              </a:extLst>
            </p:cNvPr>
            <p:cNvSpPr/>
            <p:nvPr/>
          </p:nvSpPr>
          <p:spPr>
            <a:xfrm>
              <a:off x="4006596" y="4516890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Shape 43">
              <a:extLst>
                <a:ext uri="{FF2B5EF4-FFF2-40B4-BE49-F238E27FC236}">
                  <a16:creationId xmlns:a16="http://schemas.microsoft.com/office/drawing/2014/main" id="{9FCE61F3-F724-6A4D-6E94-D1B8F3CA9F72}"/>
                </a:ext>
              </a:extLst>
            </p:cNvPr>
            <p:cNvSpPr/>
            <p:nvPr/>
          </p:nvSpPr>
          <p:spPr>
            <a:xfrm>
              <a:off x="4006596" y="4599481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" name="Shape 44">
              <a:extLst>
                <a:ext uri="{FF2B5EF4-FFF2-40B4-BE49-F238E27FC236}">
                  <a16:creationId xmlns:a16="http://schemas.microsoft.com/office/drawing/2014/main" id="{C481F598-3083-9B34-0C58-10238633133F}"/>
                </a:ext>
              </a:extLst>
            </p:cNvPr>
            <p:cNvSpPr/>
            <p:nvPr/>
          </p:nvSpPr>
          <p:spPr>
            <a:xfrm>
              <a:off x="4006596" y="4682072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6" name="Shape 45">
              <a:extLst>
                <a:ext uri="{FF2B5EF4-FFF2-40B4-BE49-F238E27FC236}">
                  <a16:creationId xmlns:a16="http://schemas.microsoft.com/office/drawing/2014/main" id="{27AA6887-B3A2-9486-25F8-F30436E20849}"/>
                </a:ext>
              </a:extLst>
            </p:cNvPr>
            <p:cNvSpPr/>
            <p:nvPr/>
          </p:nvSpPr>
          <p:spPr>
            <a:xfrm>
              <a:off x="4006596" y="4764663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7" name="Shape 46">
              <a:extLst>
                <a:ext uri="{FF2B5EF4-FFF2-40B4-BE49-F238E27FC236}">
                  <a16:creationId xmlns:a16="http://schemas.microsoft.com/office/drawing/2014/main" id="{DF6B33D4-DA02-C4A7-61E7-581CA4E04573}"/>
                </a:ext>
              </a:extLst>
            </p:cNvPr>
            <p:cNvSpPr/>
            <p:nvPr/>
          </p:nvSpPr>
          <p:spPr>
            <a:xfrm>
              <a:off x="4006596" y="4847254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8" name="Shape 47">
              <a:extLst>
                <a:ext uri="{FF2B5EF4-FFF2-40B4-BE49-F238E27FC236}">
                  <a16:creationId xmlns:a16="http://schemas.microsoft.com/office/drawing/2014/main" id="{E3C91251-5D89-F994-7007-1B986E6E06FA}"/>
                </a:ext>
              </a:extLst>
            </p:cNvPr>
            <p:cNvSpPr/>
            <p:nvPr/>
          </p:nvSpPr>
          <p:spPr>
            <a:xfrm>
              <a:off x="4006596" y="4929845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9" name="Shape 48">
              <a:extLst>
                <a:ext uri="{FF2B5EF4-FFF2-40B4-BE49-F238E27FC236}">
                  <a16:creationId xmlns:a16="http://schemas.microsoft.com/office/drawing/2014/main" id="{E125012B-C5F9-EBFE-42E1-0FD2727ACD64}"/>
                </a:ext>
              </a:extLst>
            </p:cNvPr>
            <p:cNvSpPr/>
            <p:nvPr/>
          </p:nvSpPr>
          <p:spPr>
            <a:xfrm>
              <a:off x="4006596" y="5012436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2" name="Shape 3">
            <a:extLst>
              <a:ext uri="{FF2B5EF4-FFF2-40B4-BE49-F238E27FC236}">
                <a16:creationId xmlns:a16="http://schemas.microsoft.com/office/drawing/2014/main" id="{5FB63EAE-2895-536D-10C0-2FA2293B97D1}"/>
              </a:ext>
            </a:extLst>
          </p:cNvPr>
          <p:cNvSpPr/>
          <p:nvPr/>
        </p:nvSpPr>
        <p:spPr>
          <a:xfrm>
            <a:off x="3598984" y="2001632"/>
            <a:ext cx="457200" cy="457200"/>
          </a:xfrm>
          <a:prstGeom prst="line">
            <a:avLst/>
          </a:prstGeom>
          <a:noFill/>
          <a:ln w="25400">
            <a:solidFill>
              <a:srgbClr val="A2823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3" name="Text 49">
            <a:extLst>
              <a:ext uri="{FF2B5EF4-FFF2-40B4-BE49-F238E27FC236}">
                <a16:creationId xmlns:a16="http://schemas.microsoft.com/office/drawing/2014/main" id="{03415360-DC97-C725-EF1E-87812FAB9ECF}"/>
              </a:ext>
            </a:extLst>
          </p:cNvPr>
          <p:cNvSpPr/>
          <p:nvPr/>
        </p:nvSpPr>
        <p:spPr>
          <a:xfrm>
            <a:off x="7943541" y="1822606"/>
            <a:ext cx="26295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Concentration head</a:t>
            </a:r>
            <a:endParaRPr lang="en-US" sz="1200" dirty="0"/>
          </a:p>
        </p:txBody>
      </p:sp>
      <p:pic>
        <p:nvPicPr>
          <p:cNvPr id="175" name="Graphic 174" descr="Caret Left with solid fill">
            <a:extLst>
              <a:ext uri="{FF2B5EF4-FFF2-40B4-BE49-F238E27FC236}">
                <a16:creationId xmlns:a16="http://schemas.microsoft.com/office/drawing/2014/main" id="{2DD7D848-CD8B-D48E-EC0D-068512BB7D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682829">
            <a:off x="7574782" y="1613767"/>
            <a:ext cx="914400" cy="914400"/>
          </a:xfrm>
          <a:prstGeom prst="rect">
            <a:avLst/>
          </a:prstGeom>
        </p:spPr>
      </p:pic>
      <p:pic>
        <p:nvPicPr>
          <p:cNvPr id="176" name="Graphic 175" descr="Caret Left with solid fill">
            <a:extLst>
              <a:ext uri="{FF2B5EF4-FFF2-40B4-BE49-F238E27FC236}">
                <a16:creationId xmlns:a16="http://schemas.microsoft.com/office/drawing/2014/main" id="{0A366D51-B567-2673-84FD-A1CDA67191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111189">
            <a:off x="10029444" y="1604463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potential models, in order of how much physics they embed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389163" y="1795975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F4EEE2"/>
          </a:solidFill>
          <a:ln w="12700">
            <a:solidFill>
              <a:srgbClr val="E6DE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09203" y="2116015"/>
            <a:ext cx="566928" cy="566928"/>
          </a:xfrm>
          <a:prstGeom prst="ellipse">
            <a:avLst/>
          </a:prstGeom>
          <a:solidFill>
            <a:srgbClr val="6B2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09203" y="2116015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09203" y="2847535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Pure NN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709203" y="3487615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450" dirty="0">
                <a:solidFill>
                  <a:srgbClr val="2B211A"/>
                </a:solidFill>
                <a:latin typeface="Calibri" pitchFamily="34" charset="0"/>
                <a:cs typeface="Calibri" pitchFamily="34" charset="-120"/>
              </a:rPr>
              <a:t>Predicts next-day concentrations directly, no ODE or physics inside the model. It's the baseline model: it shows the ODE isn't what makes the prediction accurate.</a:t>
            </a:r>
          </a:p>
        </p:txBody>
      </p:sp>
      <p:sp>
        <p:nvSpPr>
          <p:cNvPr id="8" name="Shape 6"/>
          <p:cNvSpPr/>
          <p:nvPr/>
        </p:nvSpPr>
        <p:spPr>
          <a:xfrm>
            <a:off x="6183923" y="1795975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F4EEE2"/>
          </a:solidFill>
          <a:ln w="12700">
            <a:solidFill>
              <a:srgbClr val="E6DE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03963" y="2116015"/>
            <a:ext cx="566928" cy="566928"/>
          </a:xfrm>
          <a:prstGeom prst="ellipse">
            <a:avLst/>
          </a:prstGeom>
          <a:solidFill>
            <a:srgbClr val="3A4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03963" y="2116015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03963" y="2847535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A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neural-ODE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03963" y="3487615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450" dirty="0">
                <a:solidFill>
                  <a:srgbClr val="2B211A"/>
                </a:solidFill>
                <a:latin typeface="Calibri" pitchFamily="34" charset="0"/>
                <a:cs typeface="Calibri" pitchFamily="34" charset="-120"/>
              </a:rPr>
              <a:t>The network predicts per-cell fluxes, and a fixed ODE step integrates them into the next-day concentrations. Mass balance is guaranteed. The ODE runs in the forward pass.</a:t>
            </a:r>
          </a:p>
        </p:txBody>
      </p:sp>
      <p:sp>
        <p:nvSpPr>
          <p:cNvPr id="15" name="Text 13"/>
          <p:cNvSpPr/>
          <p:nvPr/>
        </p:nvSpPr>
        <p:spPr>
          <a:xfrm>
            <a:off x="845820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6B2333"/>
                </a:solidFill>
                <a:latin typeface="Cambria" pitchFamily="34" charset="0"/>
              </a:rPr>
              <a:t>Inference speed: NN vs. the mechanistic model</a:t>
            </a:r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COSMIC-dFBA takes ~15 minutes per reactor. </a:t>
            </a:r>
            <a:r>
              <a:rPr lang="en-US" sz="1600" b="1" dirty="0">
                <a:solidFill>
                  <a:srgbClr val="6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NN predicts the same run in 0.0003 ms</a:t>
            </a:r>
            <a:r>
              <a:rPr lang="en-US" sz="16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billions of times faster.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040313"/>
              </p:ext>
            </p:extLst>
          </p:nvPr>
        </p:nvGraphicFramePr>
        <p:xfrm>
          <a:off x="640080" y="2148840"/>
          <a:ext cx="10972800" cy="283464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3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/ 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3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ms/reactor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3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faster than generator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3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faster than COSMIC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closed-form ODE (our synthetic data generator)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 (reference)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1,800,000,000×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6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NN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3,000,000,000×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(solver-free at inference)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3,000,000,000×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3A4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COSMIC-dFBA (real model)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A4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~900,000  (15 min)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7A6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A4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 (baseline)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NN matches or slightly beats our closed-form generator, and both are billions of times faster than the real COSMIC-</a:t>
            </a:r>
            <a:r>
              <a:rPr lang="en-US" sz="1250" i="1" dirty="0" err="1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dFBA</a:t>
            </a:r>
            <a:r>
              <a:rPr lang="en-US" sz="1250" i="1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 algn="l">
              <a:buNone/>
            </a:pPr>
            <a:r>
              <a:rPr lang="en-US" sz="1250" b="1" i="1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enables running it at scale; it is not the ultimate contribution.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A100 GPU · small model (1 conv, 32 nodes) · n = 20,000.  Speedup = the reference's ms ÷ each model's ms (generator 0.0005, COSMIC 900,000).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Pure NN captures cell culture performance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2164076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 </a:t>
            </a:r>
            <a:r>
              <a:rPr lang="en-US" sz="15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how much of the true variation the model explains (1 = exact, 0 = no better than the mean). It is unitless and stricter than just shape.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548640" y="3307076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3A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 </a:t>
            </a:r>
            <a:r>
              <a:rPr lang="en-US" sz="15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does the prediction move up and down with the truth (trend agreement). n/a on a flat signal: nothing to correlate.</a:t>
            </a:r>
            <a:endParaRPr lang="en-US" sz="15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679323"/>
              </p:ext>
            </p:extLst>
          </p:nvPr>
        </p:nvGraphicFramePr>
        <p:xfrm>
          <a:off x="6400800" y="1463040"/>
          <a:ext cx="5212081" cy="4279392"/>
        </p:xfrm>
        <a:graphic>
          <a:graphicData uri="http://schemas.openxmlformats.org/drawingml/2006/table">
            <a:tbl>
              <a:tblPr/>
              <a:tblGrid>
                <a:gridCol w="2772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3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3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3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density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Glucose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Glycine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Glutamine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7A6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Asparagine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7A6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7A6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6573795" y="5943600"/>
            <a:ext cx="4905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i="1" dirty="0">
                <a:solidFill>
                  <a:srgbClr val="7A6E5A"/>
                </a:solidFill>
                <a:latin typeface="Calibri" pitchFamily="34" charset="0"/>
                <a:cs typeface="Calibri" pitchFamily="34" charset="-120"/>
              </a:rPr>
              <a:t>5 of 8 variables score R² 0.95–0.99. 3 amino acids are too flat to score (n/a) but the model still tracks them.</a:t>
            </a:r>
            <a:endParaRPr lang="en-US" sz="14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EB2DD90B-1A22-BF7D-A82A-67B139406459}"/>
              </a:ext>
            </a:extLst>
          </p:cNvPr>
          <p:cNvSpPr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these conditions, you can predict: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Model’s Predicted v. True</a:t>
            </a:r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DEB0EC-CB6B-C160-A666-1473BF92A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08" y="961292"/>
            <a:ext cx="11496784" cy="58967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Titer Predictions</a:t>
            </a:r>
            <a:endParaRPr lang="en-US" sz="3200" dirty="0"/>
          </a:p>
        </p:txBody>
      </p:sp>
      <p:pic>
        <p:nvPicPr>
          <p:cNvPr id="3" name="Image 0" descr="/Users/nevecallaway/code/COSMIC-dFBA-nn/figures/nn_baseline_r2_Titer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11247120" cy="4087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5669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6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= the ground truth synthetically generated run.  Red dashed = the NN's forecast.  </a:t>
            </a:r>
            <a:r>
              <a:rPr lang="en-US" sz="14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sees only days 0–6 (left of the line), then predicts days 6–12 on its own.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11FFD-9EDB-6A2E-E07A-9895AD65E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CD49773-3EF9-A785-9AF6-DBCD7AEA307F}"/>
              </a:ext>
            </a:extLst>
          </p:cNvPr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 Density Predictions</a:t>
            </a:r>
            <a:endParaRPr lang="en-US" sz="3200" dirty="0"/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662A7CC4-BD03-23EB-AEA9-C3BB5EE65F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2602" y="1371600"/>
            <a:ext cx="11236316" cy="408736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A8548506-780C-1E23-2A2C-3CD6AF8931D1}"/>
              </a:ext>
            </a:extLst>
          </p:cNvPr>
          <p:cNvSpPr/>
          <p:nvPr/>
        </p:nvSpPr>
        <p:spPr>
          <a:xfrm>
            <a:off x="548640" y="5669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6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= the ground truth synthetically generated run.  Red dashed = the NN's forecast.  </a:t>
            </a:r>
            <a:r>
              <a:rPr lang="en-US" sz="14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sees only days 0–6 (left of the line), then predicts days 6–12 on its own.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1355913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1622D-67E0-35E4-7747-945F79044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FB47237-1FB8-E795-9E2C-54C85E99D0F5}"/>
              </a:ext>
            </a:extLst>
          </p:cNvPr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 Size Predictions</a:t>
            </a:r>
            <a:endParaRPr lang="en-US" sz="3200" dirty="0"/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A038C576-BC13-84AA-9DB3-CBE5CD1A47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2602" y="1371600"/>
            <a:ext cx="11236316" cy="4087367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FA919507-93D1-9C9E-663D-8D049684AA1D}"/>
              </a:ext>
            </a:extLst>
          </p:cNvPr>
          <p:cNvSpPr/>
          <p:nvPr/>
        </p:nvSpPr>
        <p:spPr>
          <a:xfrm>
            <a:off x="548640" y="5669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6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= the ground truth synthetically generated run.  Red dashed = the NN's forecast.  </a:t>
            </a:r>
            <a:r>
              <a:rPr lang="en-US" sz="14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sees only days 0–6 (left of the line), then predicts days 6–12 on its own.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653644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0BA59-4D94-2D91-CDA1-2615A05D1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F5FE234-6FAD-15D7-0AE5-FE900E280EB4}"/>
              </a:ext>
            </a:extLst>
          </p:cNvPr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Glucose Predictions</a:t>
            </a:r>
            <a:endParaRPr lang="en-US" sz="3200" dirty="0"/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3AEC2F0F-E3F8-20E9-EA68-129A6DD378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8111" y="1371600"/>
            <a:ext cx="11165297" cy="4087367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9F9DAA03-15E4-3C1C-6C14-0BA59D69AC26}"/>
              </a:ext>
            </a:extLst>
          </p:cNvPr>
          <p:cNvSpPr/>
          <p:nvPr/>
        </p:nvSpPr>
        <p:spPr>
          <a:xfrm>
            <a:off x="548640" y="5669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6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= the ground truth synthetically generated run.  Red dashed = the NN's forecast.  </a:t>
            </a:r>
            <a:r>
              <a:rPr lang="en-US" sz="14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sees only days 0–6 (left of the line), then predicts days 6–12 on its own.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1458704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1C0CF-E309-A647-BA8E-C9B92863F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47BB8EB-8290-1B64-1B07-CD8534D22931}"/>
              </a:ext>
            </a:extLst>
          </p:cNvPr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Asparagine Predictions</a:t>
            </a:r>
            <a:endParaRPr lang="en-US" sz="3200" dirty="0"/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43E98841-FBC8-93CB-1760-0F2BFB8805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8111" y="1384517"/>
            <a:ext cx="11165297" cy="4061533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59D0213F-6019-5E6B-3F7A-F1D13144D54F}"/>
              </a:ext>
            </a:extLst>
          </p:cNvPr>
          <p:cNvSpPr/>
          <p:nvPr/>
        </p:nvSpPr>
        <p:spPr>
          <a:xfrm>
            <a:off x="548640" y="5669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6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= the ground truth synthetically generated run.  Red dashed = the NN's forecast.  </a:t>
            </a:r>
            <a:r>
              <a:rPr lang="en-US" sz="14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sees only days 0–6 (left of the line), then predicts days 6–12 on its own.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1638397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F1EADB"/>
          </a:solidFill>
          <a:ln w="12700">
            <a:solidFill>
              <a:srgbClr val="E6DE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309360" y="137160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F1EADB"/>
          </a:solidFill>
          <a:ln w="12700">
            <a:solidFill>
              <a:srgbClr val="E6DE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limitations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309360" y="157276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A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47091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synthetic COSMIC-dFBA runs (a physics analog). </a:t>
            </a:r>
          </a:p>
          <a:p>
            <a:pPr marL="660400" lvl="1" indent="-2032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not used for training or magnitudes.</a:t>
            </a:r>
          </a:p>
          <a:p>
            <a:pPr marL="203200" indent="-203200" algn="l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after pooling all data.</a:t>
            </a:r>
          </a:p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stays invertible, units interpretable. Cross-sample variance preserved.</a:t>
            </a:r>
            <a:r>
              <a:rPr lang="en-US" sz="15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the simulator.</a:t>
            </a:r>
          </a:p>
          <a:p>
            <a:pPr marL="660400" lvl="1" indent="-2032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Window-level holdouts (1–2 windows per reactor).</a:t>
            </a:r>
            <a:endParaRPr lang="en-US" sz="1500" dirty="0">
              <a:solidFill>
                <a:srgbClr val="2B21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with the aid of AI tools</a:t>
            </a:r>
          </a:p>
          <a:p>
            <a:pPr marL="660400" lvl="1" indent="-2032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internal bugs</a:t>
            </a:r>
          </a:p>
        </p:txBody>
      </p:sp>
      <p:sp>
        <p:nvSpPr>
          <p:cNvPr id="8" name="Text 6"/>
          <p:cNvSpPr/>
          <p:nvPr/>
        </p:nvSpPr>
        <p:spPr>
          <a:xfrm>
            <a:off x="6629400" y="2148840"/>
            <a:ext cx="47091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Real-data validation.</a:t>
            </a:r>
          </a:p>
          <a:p>
            <a:pPr marL="660400" lvl="1" indent="-2032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/ trend check only, never magnitude.</a:t>
            </a:r>
          </a:p>
          <a:p>
            <a:pPr marL="660400" lvl="1" indent="-2032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differ. Shared: perfusion, η switch, O₂.</a:t>
            </a:r>
          </a:p>
          <a:p>
            <a:pPr marL="660400" lvl="1" indent="-2032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 to new conditions with new data.</a:t>
            </a:r>
          </a:p>
          <a:p>
            <a:pPr marL="203200" indent="-203200" algn="l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“lazy” retraining.</a:t>
            </a:r>
          </a:p>
          <a:p>
            <a:pPr marL="660400" lvl="1" indent="-2032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each new condition, retrain (~4 min).</a:t>
            </a:r>
          </a:p>
          <a:p>
            <a:pPr marL="203200" indent="-203200" algn="l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Continuous-time PINN.</a:t>
            </a:r>
          </a:p>
          <a:p>
            <a:pPr marL="660400" lvl="1" indent="-2032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ODE-in-forward inference timing.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and scored on the mechanistic simulator alone; treat as a surrogate, not a wet-lab-validated model.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C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15"/>
          <p:cNvSpPr/>
          <p:nvPr/>
        </p:nvSpPr>
        <p:spPr>
          <a:xfrm>
            <a:off x="0" y="379476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3ECD8"/>
                </a:solidFill>
                <a:latin typeface="Cambria" pitchFamily="34" charset="0"/>
              </a:rPr>
              <a:t>Let’s get to tasting!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5184648" y="4754880"/>
            <a:ext cx="1828800" cy="27432"/>
          </a:xfrm>
          <a:prstGeom prst="rect">
            <a:avLst/>
          </a:prstGeom>
          <a:solidFill>
            <a:srgbClr val="A282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0" y="498348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B7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</a:t>
            </a:r>
            <a:r>
              <a:rPr lang="en-US" sz="1800" i="1" dirty="0">
                <a:solidFill>
                  <a:srgbClr val="B7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er-variable prediction trajectories to follow upon request.</a:t>
            </a:r>
            <a:endParaRPr lang="en-US" sz="18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5B0B8CDA-5213-23C7-6DBE-3C68E2F2EF27}"/>
              </a:ext>
            </a:extLst>
          </p:cNvPr>
          <p:cNvSpPr/>
          <p:nvPr/>
        </p:nvSpPr>
        <p:spPr>
          <a:xfrm>
            <a:off x="3048" y="205271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3ECD8"/>
                </a:solidFill>
                <a:latin typeface="Cambria" pitchFamily="34" charset="0"/>
              </a:rPr>
              <a:t>Acknowledgements</a:t>
            </a:r>
            <a:endParaRPr lang="en-US" sz="4800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D5734EF1-5780-DB6D-091D-3D735B09EBAB}"/>
              </a:ext>
            </a:extLst>
          </p:cNvPr>
          <p:cNvSpPr/>
          <p:nvPr/>
        </p:nvSpPr>
        <p:spPr>
          <a:xfrm>
            <a:off x="3008492" y="1263396"/>
            <a:ext cx="6171967" cy="262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en-US" sz="2400" b="1" dirty="0">
                <a:solidFill>
                  <a:srgbClr val="F4ECD8"/>
                </a:solidFill>
                <a:latin typeface="Calibri" pitchFamily="34" charset="0"/>
                <a:cs typeface="Calibri" pitchFamily="34" charset="-120"/>
              </a:rPr>
              <a:t>Thank you to:</a:t>
            </a:r>
          </a:p>
          <a:p>
            <a:pPr algn="ctr">
              <a:lnSpc>
                <a:spcPct val="115000"/>
              </a:lnSpc>
            </a:pPr>
            <a:r>
              <a:rPr lang="en-US" sz="2400" dirty="0">
                <a:solidFill>
                  <a:srgbClr val="F4ECD8"/>
                </a:solidFill>
                <a:latin typeface="Calibri" pitchFamily="34" charset="0"/>
                <a:cs typeface="Calibri" pitchFamily="34" charset="-120"/>
              </a:rPr>
              <a:t>Nathan Lewis</a:t>
            </a:r>
          </a:p>
          <a:p>
            <a:pPr algn="ctr">
              <a:lnSpc>
                <a:spcPct val="115000"/>
              </a:lnSpc>
            </a:pPr>
            <a:r>
              <a:rPr lang="en-US" sz="2400" dirty="0">
                <a:solidFill>
                  <a:srgbClr val="F4ECD8"/>
                </a:solidFill>
                <a:latin typeface="Calibri" pitchFamily="34" charset="0"/>
                <a:cs typeface="Calibri" pitchFamily="34" charset="-120"/>
              </a:rPr>
              <a:t>Kimberly </a:t>
            </a:r>
            <a:r>
              <a:rPr lang="en-US" sz="2400" dirty="0" err="1">
                <a:solidFill>
                  <a:srgbClr val="F4ECD8"/>
                </a:solidFill>
                <a:latin typeface="Calibri" pitchFamily="34" charset="0"/>
                <a:cs typeface="Calibri" pitchFamily="34" charset="-120"/>
              </a:rPr>
              <a:t>Robasky</a:t>
            </a:r>
            <a:endParaRPr lang="en-US" sz="2400" dirty="0">
              <a:solidFill>
                <a:srgbClr val="F4ECD8"/>
              </a:solidFill>
              <a:latin typeface="Calibri" pitchFamily="34" charset="0"/>
              <a:cs typeface="Calibri" pitchFamily="34" charset="-120"/>
            </a:endParaRPr>
          </a:p>
          <a:p>
            <a:pPr algn="ctr">
              <a:lnSpc>
                <a:spcPct val="115000"/>
              </a:lnSpc>
            </a:pPr>
            <a:r>
              <a:rPr lang="en-US" sz="2400" dirty="0">
                <a:solidFill>
                  <a:srgbClr val="F4ECD8"/>
                </a:solidFill>
                <a:latin typeface="Calibri" pitchFamily="34" charset="0"/>
                <a:cs typeface="Calibri" pitchFamily="34" charset="-120"/>
              </a:rPr>
              <a:t>Sarat Gopalakrishnan</a:t>
            </a:r>
          </a:p>
          <a:p>
            <a:pPr algn="ctr">
              <a:lnSpc>
                <a:spcPct val="115000"/>
              </a:lnSpc>
            </a:pPr>
            <a:r>
              <a:rPr lang="en-US" sz="2400" dirty="0">
                <a:solidFill>
                  <a:srgbClr val="F4ECD8"/>
                </a:solidFill>
                <a:latin typeface="Calibri" pitchFamily="34" charset="0"/>
                <a:cs typeface="Calibri" pitchFamily="34" charset="-120"/>
              </a:rPr>
              <a:t>BYU College of Life Sciences</a:t>
            </a:r>
          </a:p>
          <a:p>
            <a:pPr algn="ctr">
              <a:lnSpc>
                <a:spcPct val="115000"/>
              </a:lnSpc>
            </a:pPr>
            <a:r>
              <a:rPr lang="en-US" sz="2400" dirty="0">
                <a:solidFill>
                  <a:srgbClr val="F4ECD8"/>
                </a:solidFill>
                <a:latin typeface="Calibri" pitchFamily="34" charset="0"/>
                <a:cs typeface="Calibri" pitchFamily="34" charset="-120"/>
              </a:rPr>
              <a:t>Funded Internships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AD51A51-C9E8-756F-738E-1B5BA3456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737" y="825421"/>
            <a:ext cx="2953069" cy="377236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E2B0564-3A82-55BF-4EE5-ADB6715A4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145" y="722785"/>
            <a:ext cx="2953069" cy="3772369"/>
          </a:xfrm>
          <a:prstGeom prst="rect">
            <a:avLst/>
          </a:prstGeom>
        </p:spPr>
      </p:pic>
      <p:pic>
        <p:nvPicPr>
          <p:cNvPr id="24" name="Image 0">
            <a:extLst>
              <a:ext uri="{FF2B5EF4-FFF2-40B4-BE49-F238E27FC236}">
                <a16:creationId xmlns:a16="http://schemas.microsoft.com/office/drawing/2014/main" id="{42397999-37F3-1C21-F792-6110A3A4594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146" t="2298" r="50177"/>
          <a:stretch>
            <a:fillRect/>
          </a:stretch>
        </p:blipFill>
        <p:spPr>
          <a:xfrm>
            <a:off x="565315" y="2096322"/>
            <a:ext cx="1519661" cy="500293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A4233D55-C6A8-AABB-AE9C-DC5661B7F927}"/>
              </a:ext>
            </a:extLst>
          </p:cNvPr>
          <p:cNvSpPr/>
          <p:nvPr/>
        </p:nvSpPr>
        <p:spPr>
          <a:xfrm>
            <a:off x="398584" y="3794760"/>
            <a:ext cx="225346" cy="700394"/>
          </a:xfrm>
          <a:prstGeom prst="ellipse">
            <a:avLst/>
          </a:prstGeom>
          <a:solidFill>
            <a:srgbClr val="244C05"/>
          </a:solidFill>
          <a:ln>
            <a:solidFill>
              <a:srgbClr val="244C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9828F-14C1-B56E-1AEF-3B8E1F000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B563DF0-9394-8F71-3DF1-402FF2576ED9}"/>
              </a:ext>
            </a:extLst>
          </p:cNvPr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Glycine Predictions</a:t>
            </a:r>
            <a:endParaRPr lang="en-US" sz="3200" dirty="0"/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EEE7BB18-7968-D76F-F4DD-481B1AFABC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8111" y="1384517"/>
            <a:ext cx="11165297" cy="4061533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85437C0F-6CBE-6013-05F6-0A7318CF0BC8}"/>
              </a:ext>
            </a:extLst>
          </p:cNvPr>
          <p:cNvSpPr/>
          <p:nvPr/>
        </p:nvSpPr>
        <p:spPr>
          <a:xfrm>
            <a:off x="548640" y="5669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6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= the ground truth synthetically generated run.  Red dashed = the NN's forecast.  </a:t>
            </a:r>
            <a:r>
              <a:rPr lang="en-US" sz="14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sees only days 0–6 (left of the line), then predicts days 6–12 on its own.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861093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B47E6-3799-7D2F-4CF8-8AE3ADBFC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E951E90-2B47-4B81-F57F-079B2481248F}"/>
              </a:ext>
            </a:extLst>
          </p:cNvPr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Glutamine Predictions</a:t>
            </a:r>
            <a:endParaRPr lang="en-US" sz="3200" dirty="0"/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C6DE2105-DA4F-4AED-B312-624514CF04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8111" y="1384517"/>
            <a:ext cx="11165297" cy="4061533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7A00189A-9E08-3556-041A-08627E79F2CD}"/>
              </a:ext>
            </a:extLst>
          </p:cNvPr>
          <p:cNvSpPr/>
          <p:nvPr/>
        </p:nvSpPr>
        <p:spPr>
          <a:xfrm>
            <a:off x="548640" y="5669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6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= the ground truth synthetically generated run.  Red dashed = the NN's forecast.  </a:t>
            </a:r>
            <a:r>
              <a:rPr lang="en-US" sz="14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sees only days 0–6 (left of the line), then predicts days 6–12 on its own.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2682992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C4056-C94E-FF1C-0614-8C2CBA794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90091C-F607-EB31-DA54-C12393B62C88}"/>
              </a:ext>
            </a:extLst>
          </p:cNvPr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Serine Predictions</a:t>
            </a:r>
            <a:endParaRPr lang="en-US" sz="3200" dirty="0"/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CADD8C6E-FE2C-ACB1-6F93-1B3E92FDB1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8111" y="1384517"/>
            <a:ext cx="11165297" cy="4061533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6876D83D-CBC6-CFEF-6F8E-71178C149EA2}"/>
              </a:ext>
            </a:extLst>
          </p:cNvPr>
          <p:cNvSpPr/>
          <p:nvPr/>
        </p:nvSpPr>
        <p:spPr>
          <a:xfrm>
            <a:off x="548640" y="5669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6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= the ground truth synthetically generated run.  Red dashed = the NN's forecast.  </a:t>
            </a:r>
            <a:r>
              <a:rPr lang="en-US" sz="14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sees only days 0–6 (left of the line), then predicts days 6–12 on its own.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96812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1508</TotalTime>
  <Words>1287</Words>
  <Application>Microsoft Macintosh PowerPoint</Application>
  <PresentationFormat>Widescreen</PresentationFormat>
  <Paragraphs>178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Neve Callaway</cp:lastModifiedBy>
  <cp:revision>15</cp:revision>
  <dcterms:created xsi:type="dcterms:W3CDTF">2026-08-04T18:52:38Z</dcterms:created>
  <dcterms:modified xsi:type="dcterms:W3CDTF">2026-08-05T20:01:54Z</dcterms:modified>
</cp:coreProperties>
</file>