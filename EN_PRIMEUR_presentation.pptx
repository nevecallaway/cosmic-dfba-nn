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1" r:id="rId5"/>
    <p:sldId id="262" r:id="rId6"/>
    <p:sldId id="263" r:id="rId7"/>
    <p:sldId id="270" r:id="rId8"/>
    <p:sldId id="271" r:id="rId9"/>
    <p:sldId id="272" r:id="rId10"/>
    <p:sldId id="265" r:id="rId11"/>
    <p:sldId id="266" r:id="rId12"/>
    <p:sldId id="258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AC53"/>
    <a:srgbClr val="244C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>
        <p:scale>
          <a:sx n="109" d="100"/>
          <a:sy n="109" d="100"/>
        </p:scale>
        <p:origin x="1224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330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6FB84-D713-71A3-C2B9-2B9F8F74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0023D-A2B9-2E5E-CFB6-2B6323A47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854939-1EBB-CFD7-A9F1-78E617B2C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CEE73-4308-73EB-8C09-6A0E0BE281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00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3649-A17C-AF81-C52B-185C3E447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99EE0-B564-5555-E6E2-5C8C4EE18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091D7-E0AA-D0FF-F523-DC3C4D545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35C46-71A6-5062-401E-4D11A1D9C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69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D2BDC-4174-DA28-B853-8002FBD6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D82FC-821F-AB09-12BE-24F9200AD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51AA4-527F-82C0-B9A0-CB7CE0DD2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092F4-3B67-6C1E-7DDD-D1F37E1CC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79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evecallaway/code/COSMIC-dFBA-nn/figures/logo_en_prime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512064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00266" y="19659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 neural surrogate of a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Mechanistic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 bioreactor model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800266" y="3419115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final conditions from the first few days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800266" y="4206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 Callaway</a:t>
            </a:r>
            <a:r>
              <a:rPr lang="en-US" sz="16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Lewis Lab meeting  · 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Can Train a Small Surrogate NN for COSMIC-</a:t>
            </a:r>
            <a:r>
              <a:rPr lang="en-US" sz="3200" b="1" dirty="0" err="1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dFBA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30910"/>
            <a:ext cx="43847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model: </a:t>
            </a:r>
            <a:r>
              <a:rPr lang="en-US" sz="160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COSMIC dynamic flux balance analysis (</a:t>
            </a:r>
            <a:r>
              <a:rPr lang="en-US" sz="1600" dirty="0" err="1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dFBA</a:t>
            </a:r>
            <a:r>
              <a:rPr lang="en-US" sz="160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) solves a system of ODEs to predict daily cell culture dynamics from metabolic rates (feed, washout, uptake, and secretion).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Accurate, but computationally slow</a:t>
            </a:r>
          </a:p>
        </p:txBody>
      </p:sp>
      <p:sp>
        <p:nvSpPr>
          <p:cNvPr id="4" name="Text 2"/>
          <p:cNvSpPr/>
          <p:nvPr/>
        </p:nvSpPr>
        <p:spPr>
          <a:xfrm>
            <a:off x="538086" y="3179012"/>
            <a:ext cx="42549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60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Use a small neural network trained on COSMIC-</a:t>
            </a:r>
            <a:r>
              <a:rPr lang="en-US" sz="1600" dirty="0" err="1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dFBA</a:t>
            </a:r>
            <a:r>
              <a:rPr lang="en-US" sz="160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 simulations to rapidly forecast the remaining culture trajectory from early observations and operating conditions.</a:t>
            </a:r>
          </a:p>
        </p:txBody>
      </p:sp>
      <p:sp>
        <p:nvSpPr>
          <p:cNvPr id="5" name="Text 3"/>
          <p:cNvSpPr/>
          <p:nvPr/>
        </p:nvSpPr>
        <p:spPr>
          <a:xfrm>
            <a:off x="538086" y="4682594"/>
            <a:ext cx="4717202" cy="175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So, why EN PRIMEUR? 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Faster inference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Differentiable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Reveals influential inputs (feature importance)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Guides media design and optimization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Confidence limits</a:t>
            </a:r>
          </a:p>
          <a:p>
            <a:pPr>
              <a:lnSpc>
                <a:spcPct val="115000"/>
              </a:lnSpc>
            </a:pPr>
            <a:endParaRPr lang="en-US" sz="1600" dirty="0">
              <a:solidFill>
                <a:srgbClr val="2B211A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0" y="1737360"/>
            <a:ext cx="4297680" cy="3840480"/>
          </a:xfrm>
          <a:prstGeom prst="roundRect">
            <a:avLst>
              <a:gd name="adj" fmla="val 2857"/>
            </a:avLst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239" y="2057400"/>
            <a:ext cx="35284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i="1" dirty="0">
                <a:solidFill>
                  <a:srgbClr val="F3ECD8"/>
                </a:solidFill>
                <a:latin typeface="Cambria" pitchFamily="34" charset="0"/>
              </a:rPr>
              <a:t>EN PRIMEUR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635240" y="31546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term for the practice of tasting a young wine from the barrel and predicting the final vintage before purchase.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35240" y="4297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500" i="1" dirty="0">
                <a:solidFill>
                  <a:srgbClr val="D7AC53"/>
                </a:solidFill>
                <a:latin typeface="Calibri" pitchFamily="34" charset="0"/>
                <a:cs typeface="Calibri" pitchFamily="34" charset="-120"/>
              </a:rPr>
              <a:t>Similarly, this framework learns to forecast a bioreactor’s trajectory and final conditions from early-run data.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4B9CA2-4F94-2BFF-B5F0-146369A30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854" y="1881554"/>
            <a:ext cx="2714558" cy="34676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model: one 1D conv layer, 32 hidden nodes. Every node drawn as a dot.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 flipV="1">
            <a:off x="2103120" y="3602589"/>
            <a:ext cx="658134" cy="9291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251960" y="3611880"/>
            <a:ext cx="1417320" cy="0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0" y="3611880"/>
            <a:ext cx="1417320" cy="0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49640" y="3611880"/>
            <a:ext cx="1417320" cy="0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05356" y="229971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05356" y="261975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05356" y="293979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05356" y="325983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05356" y="357987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705356" y="389991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05356" y="421995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05356" y="453999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05356" y="486003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(x 6 days)</a:t>
            </a:r>
            <a:endParaRPr lang="en-US" sz="1200" dirty="0"/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8B8989B1-283C-376C-D69D-D64CF4CA16B1}"/>
              </a:ext>
            </a:extLst>
          </p:cNvPr>
          <p:cNvGrpSpPr/>
          <p:nvPr/>
        </p:nvGrpSpPr>
        <p:grpSpPr>
          <a:xfrm>
            <a:off x="3865919" y="2299716"/>
            <a:ext cx="64008" cy="2624328"/>
            <a:chOff x="3854196" y="2299716"/>
            <a:chExt cx="64008" cy="2624328"/>
          </a:xfrm>
        </p:grpSpPr>
        <p:sp>
          <p:nvSpPr>
            <p:cNvPr id="19" name="Shape 17"/>
            <p:cNvSpPr/>
            <p:nvPr/>
          </p:nvSpPr>
          <p:spPr>
            <a:xfrm>
              <a:off x="3854196" y="229971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3854196" y="238230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3854196" y="246489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3854196" y="254748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3854196" y="263008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3854196" y="271267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3854196" y="279526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3854196" y="287785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3854196" y="296044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3854196" y="304303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27"/>
            <p:cNvSpPr/>
            <p:nvPr/>
          </p:nvSpPr>
          <p:spPr>
            <a:xfrm>
              <a:off x="3854196" y="312562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/>
            <p:cNvSpPr/>
            <p:nvPr/>
          </p:nvSpPr>
          <p:spPr>
            <a:xfrm>
              <a:off x="3854196" y="320821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3854196" y="329080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30"/>
            <p:cNvSpPr/>
            <p:nvPr/>
          </p:nvSpPr>
          <p:spPr>
            <a:xfrm>
              <a:off x="3854196" y="337339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1"/>
            <p:cNvSpPr/>
            <p:nvPr/>
          </p:nvSpPr>
          <p:spPr>
            <a:xfrm>
              <a:off x="3854196" y="345599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3854196" y="353858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3854196" y="362117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3854196" y="370376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3854196" y="378635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36"/>
            <p:cNvSpPr/>
            <p:nvPr/>
          </p:nvSpPr>
          <p:spPr>
            <a:xfrm>
              <a:off x="3854196" y="386894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7"/>
            <p:cNvSpPr/>
            <p:nvPr/>
          </p:nvSpPr>
          <p:spPr>
            <a:xfrm>
              <a:off x="3854196" y="395153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8"/>
            <p:cNvSpPr/>
            <p:nvPr/>
          </p:nvSpPr>
          <p:spPr>
            <a:xfrm>
              <a:off x="3854196" y="403412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9"/>
            <p:cNvSpPr/>
            <p:nvPr/>
          </p:nvSpPr>
          <p:spPr>
            <a:xfrm>
              <a:off x="3854196" y="411671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0"/>
            <p:cNvSpPr/>
            <p:nvPr/>
          </p:nvSpPr>
          <p:spPr>
            <a:xfrm>
              <a:off x="3854196" y="419930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41"/>
            <p:cNvSpPr/>
            <p:nvPr/>
          </p:nvSpPr>
          <p:spPr>
            <a:xfrm>
              <a:off x="3854196" y="428189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3854196" y="436449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3854196" y="444708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44"/>
            <p:cNvSpPr/>
            <p:nvPr/>
          </p:nvSpPr>
          <p:spPr>
            <a:xfrm>
              <a:off x="3854196" y="452967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45"/>
            <p:cNvSpPr/>
            <p:nvPr/>
          </p:nvSpPr>
          <p:spPr>
            <a:xfrm>
              <a:off x="3854196" y="461226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6"/>
            <p:cNvSpPr/>
            <p:nvPr/>
          </p:nvSpPr>
          <p:spPr>
            <a:xfrm>
              <a:off x="3854196" y="469485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47"/>
            <p:cNvSpPr/>
            <p:nvPr/>
          </p:nvSpPr>
          <p:spPr>
            <a:xfrm>
              <a:off x="3854196" y="477744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48"/>
            <p:cNvSpPr/>
            <p:nvPr/>
          </p:nvSpPr>
          <p:spPr>
            <a:xfrm>
              <a:off x="3854196" y="486003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" name="Text 49"/>
          <p:cNvSpPr/>
          <p:nvPr/>
        </p:nvSpPr>
        <p:spPr>
          <a:xfrm>
            <a:off x="2199503" y="5029200"/>
            <a:ext cx="32476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CNN → Attention pool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2743200" y="5349240"/>
            <a:ext cx="826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(x 6 days)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003036" y="229971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003036" y="237502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003036" y="2450323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003036" y="252562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003036" y="260093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003036" y="267623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003036" y="275153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003036" y="282684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003036" y="290214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003036" y="297744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003036" y="305275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003036" y="312805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003036" y="320335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003036" y="327866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003036" y="335396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003036" y="3429269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003036" y="350457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003036" y="357987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003036" y="365518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003036" y="3730483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003036" y="380578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003036" y="388109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003036" y="395639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003036" y="403169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003036" y="410700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003036" y="418230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003036" y="425760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003036" y="433291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6003036" y="440821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003036" y="448351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003036" y="455882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003036" y="463412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003036" y="4709429"/>
            <a:ext cx="64008" cy="64008"/>
          </a:xfrm>
          <a:prstGeom prst="ellipse">
            <a:avLst/>
          </a:prstGeom>
          <a:solidFill>
            <a:srgbClr val="A2823E"/>
          </a:solidFill>
          <a:ln w="12700">
            <a:solidFill>
              <a:srgbClr val="A282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6003036" y="4784732"/>
            <a:ext cx="64008" cy="64008"/>
          </a:xfrm>
          <a:prstGeom prst="ellipse">
            <a:avLst/>
          </a:prstGeom>
          <a:solidFill>
            <a:srgbClr val="A2823E"/>
          </a:solidFill>
          <a:ln w="12700">
            <a:solidFill>
              <a:srgbClr val="A282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6003036" y="4860036"/>
            <a:ext cx="64008" cy="64008"/>
          </a:xfrm>
          <a:prstGeom prst="ellipse">
            <a:avLst/>
          </a:prstGeom>
          <a:solidFill>
            <a:srgbClr val="A2823E"/>
          </a:solidFill>
          <a:ln w="12700">
            <a:solidFill>
              <a:srgbClr val="A282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502920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DoE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502920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8151876" y="229971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8151876" y="238230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8151876" y="246489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8151876" y="2547489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8151876" y="263008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8151876" y="271267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8151876" y="279526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8151876" y="2877853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8151876" y="296044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8151876" y="304303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8151876" y="312562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8151876" y="320821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8151876" y="329080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8151876" y="3373399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8151876" y="345599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8151876" y="353858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8151876" y="362117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8151876" y="370376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8151876" y="3786353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8151876" y="386894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8151876" y="395153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8151876" y="403412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8151876" y="411671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8151876" y="419930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8151876" y="4281899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8151876" y="436449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8151876" y="444708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8151876" y="452967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8151876" y="4612263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8151876" y="469485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8151876" y="477744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8151876" y="486003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717804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</a:t>
            </a:r>
            <a:endParaRPr lang="en-US" sz="1400" dirty="0"/>
          </a:p>
        </p:txBody>
      </p:sp>
      <p:sp>
        <p:nvSpPr>
          <p:cNvPr id="123" name="Text 121"/>
          <p:cNvSpPr/>
          <p:nvPr/>
        </p:nvSpPr>
        <p:spPr>
          <a:xfrm>
            <a:off x="717804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10300716" y="229971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0300716" y="266547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0300716" y="303123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10300716" y="339699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10300716" y="376275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10300716" y="412851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10300716" y="449427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10300716" y="486003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932688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day</a:t>
            </a:r>
            <a:endParaRPr lang="en-US" sz="1400" dirty="0"/>
          </a:p>
        </p:txBody>
      </p:sp>
      <p:sp>
        <p:nvSpPr>
          <p:cNvPr id="133" name="Text 131"/>
          <p:cNvSpPr/>
          <p:nvPr/>
        </p:nvSpPr>
        <p:spPr>
          <a:xfrm>
            <a:off x="932688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34" name="Text 13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Arrows = flow between layers, not full connectivity. Gold dots = the 3 DoE (operating-condition) inputs.</a:t>
            </a:r>
          </a:p>
        </p:txBody>
      </p:sp>
      <p:sp>
        <p:nvSpPr>
          <p:cNvPr id="135" name="Text 133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Each prediction feeds back in to forecast the rest of the run. The hybrid and PINN variants add a flux head (32 → 8), feeding an ODE step or a physics penalty.</a:t>
            </a:r>
          </a:p>
        </p:txBody>
      </p:sp>
      <p:sp>
        <p:nvSpPr>
          <p:cNvPr id="136" name="Text 49">
            <a:extLst>
              <a:ext uri="{FF2B5EF4-FFF2-40B4-BE49-F238E27FC236}">
                <a16:creationId xmlns:a16="http://schemas.microsoft.com/office/drawing/2014/main" id="{7E6CE3A4-79F4-DA4B-2991-2A01BE71B498}"/>
              </a:ext>
            </a:extLst>
          </p:cNvPr>
          <p:cNvSpPr/>
          <p:nvPr/>
        </p:nvSpPr>
        <p:spPr>
          <a:xfrm>
            <a:off x="2743200" y="1740429"/>
            <a:ext cx="26295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summary of all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previous days</a:t>
            </a:r>
            <a:endParaRPr lang="en-US" sz="1200" dirty="0"/>
          </a:p>
        </p:txBody>
      </p:sp>
      <p:sp>
        <p:nvSpPr>
          <p:cNvPr id="137" name="Text 50">
            <a:extLst>
              <a:ext uri="{FF2B5EF4-FFF2-40B4-BE49-F238E27FC236}">
                <a16:creationId xmlns:a16="http://schemas.microsoft.com/office/drawing/2014/main" id="{07788107-F47D-5F5C-A296-5C82E4390DB4}"/>
              </a:ext>
            </a:extLst>
          </p:cNvPr>
          <p:cNvSpPr/>
          <p:nvPr/>
        </p:nvSpPr>
        <p:spPr>
          <a:xfrm>
            <a:off x="3823304" y="5359563"/>
            <a:ext cx="826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6526D44-E8C9-0BDA-F48D-B9A3D392C7C0}"/>
              </a:ext>
            </a:extLst>
          </p:cNvPr>
          <p:cNvGrpSpPr/>
          <p:nvPr/>
        </p:nvGrpSpPr>
        <p:grpSpPr>
          <a:xfrm>
            <a:off x="3113532" y="2299716"/>
            <a:ext cx="64008" cy="2624328"/>
            <a:chOff x="4006596" y="2452116"/>
            <a:chExt cx="64008" cy="2624328"/>
          </a:xfrm>
        </p:grpSpPr>
        <p:sp>
          <p:nvSpPr>
            <p:cNvPr id="138" name="Shape 17">
              <a:extLst>
                <a:ext uri="{FF2B5EF4-FFF2-40B4-BE49-F238E27FC236}">
                  <a16:creationId xmlns:a16="http://schemas.microsoft.com/office/drawing/2014/main" id="{9AB5D988-CA6F-EC40-61BD-44A68A0B228D}"/>
                </a:ext>
              </a:extLst>
            </p:cNvPr>
            <p:cNvSpPr/>
            <p:nvPr/>
          </p:nvSpPr>
          <p:spPr>
            <a:xfrm>
              <a:off x="4006596" y="245211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Shape 18">
              <a:extLst>
                <a:ext uri="{FF2B5EF4-FFF2-40B4-BE49-F238E27FC236}">
                  <a16:creationId xmlns:a16="http://schemas.microsoft.com/office/drawing/2014/main" id="{533AFF3A-1723-533A-3502-C742434BF4F1}"/>
                </a:ext>
              </a:extLst>
            </p:cNvPr>
            <p:cNvSpPr/>
            <p:nvPr/>
          </p:nvSpPr>
          <p:spPr>
            <a:xfrm>
              <a:off x="4006596" y="253470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Shape 19">
              <a:extLst>
                <a:ext uri="{FF2B5EF4-FFF2-40B4-BE49-F238E27FC236}">
                  <a16:creationId xmlns:a16="http://schemas.microsoft.com/office/drawing/2014/main" id="{F5784647-5A76-F2E6-4431-66C5C7C38E1E}"/>
                </a:ext>
              </a:extLst>
            </p:cNvPr>
            <p:cNvSpPr/>
            <p:nvPr/>
          </p:nvSpPr>
          <p:spPr>
            <a:xfrm>
              <a:off x="4006596" y="261729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Shape 20">
              <a:extLst>
                <a:ext uri="{FF2B5EF4-FFF2-40B4-BE49-F238E27FC236}">
                  <a16:creationId xmlns:a16="http://schemas.microsoft.com/office/drawing/2014/main" id="{518DFCD3-A2EB-03C5-892D-20E1EAFBFC4F}"/>
                </a:ext>
              </a:extLst>
            </p:cNvPr>
            <p:cNvSpPr/>
            <p:nvPr/>
          </p:nvSpPr>
          <p:spPr>
            <a:xfrm>
              <a:off x="4006596" y="269988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Shape 21">
              <a:extLst>
                <a:ext uri="{FF2B5EF4-FFF2-40B4-BE49-F238E27FC236}">
                  <a16:creationId xmlns:a16="http://schemas.microsoft.com/office/drawing/2014/main" id="{E6536D88-B4CC-09D5-D2D6-2F9349D29270}"/>
                </a:ext>
              </a:extLst>
            </p:cNvPr>
            <p:cNvSpPr/>
            <p:nvPr/>
          </p:nvSpPr>
          <p:spPr>
            <a:xfrm>
              <a:off x="4006596" y="278248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Shape 22">
              <a:extLst>
                <a:ext uri="{FF2B5EF4-FFF2-40B4-BE49-F238E27FC236}">
                  <a16:creationId xmlns:a16="http://schemas.microsoft.com/office/drawing/2014/main" id="{CBDC8FCB-F4B1-5DFD-0D9C-9E17461CE149}"/>
                </a:ext>
              </a:extLst>
            </p:cNvPr>
            <p:cNvSpPr/>
            <p:nvPr/>
          </p:nvSpPr>
          <p:spPr>
            <a:xfrm>
              <a:off x="4006596" y="286507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Shape 23">
              <a:extLst>
                <a:ext uri="{FF2B5EF4-FFF2-40B4-BE49-F238E27FC236}">
                  <a16:creationId xmlns:a16="http://schemas.microsoft.com/office/drawing/2014/main" id="{C409A3EF-E367-6321-5343-18E20942476A}"/>
                </a:ext>
              </a:extLst>
            </p:cNvPr>
            <p:cNvSpPr/>
            <p:nvPr/>
          </p:nvSpPr>
          <p:spPr>
            <a:xfrm>
              <a:off x="4006596" y="294766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Shape 24">
              <a:extLst>
                <a:ext uri="{FF2B5EF4-FFF2-40B4-BE49-F238E27FC236}">
                  <a16:creationId xmlns:a16="http://schemas.microsoft.com/office/drawing/2014/main" id="{25019FC9-924E-0D90-54FD-952E7A41BCCE}"/>
                </a:ext>
              </a:extLst>
            </p:cNvPr>
            <p:cNvSpPr/>
            <p:nvPr/>
          </p:nvSpPr>
          <p:spPr>
            <a:xfrm>
              <a:off x="4006596" y="303025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Shape 25">
              <a:extLst>
                <a:ext uri="{FF2B5EF4-FFF2-40B4-BE49-F238E27FC236}">
                  <a16:creationId xmlns:a16="http://schemas.microsoft.com/office/drawing/2014/main" id="{3B02E5BF-EB12-7365-F25E-27A4F94F5B2F}"/>
                </a:ext>
              </a:extLst>
            </p:cNvPr>
            <p:cNvSpPr/>
            <p:nvPr/>
          </p:nvSpPr>
          <p:spPr>
            <a:xfrm>
              <a:off x="4006596" y="311284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Shape 26">
              <a:extLst>
                <a:ext uri="{FF2B5EF4-FFF2-40B4-BE49-F238E27FC236}">
                  <a16:creationId xmlns:a16="http://schemas.microsoft.com/office/drawing/2014/main" id="{385453A5-E32C-0E03-A51C-0CAE78B4D3A6}"/>
                </a:ext>
              </a:extLst>
            </p:cNvPr>
            <p:cNvSpPr/>
            <p:nvPr/>
          </p:nvSpPr>
          <p:spPr>
            <a:xfrm>
              <a:off x="4006596" y="319543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Shape 27">
              <a:extLst>
                <a:ext uri="{FF2B5EF4-FFF2-40B4-BE49-F238E27FC236}">
                  <a16:creationId xmlns:a16="http://schemas.microsoft.com/office/drawing/2014/main" id="{273BC2C9-E337-B8D5-9388-6A0F7206A85C}"/>
                </a:ext>
              </a:extLst>
            </p:cNvPr>
            <p:cNvSpPr/>
            <p:nvPr/>
          </p:nvSpPr>
          <p:spPr>
            <a:xfrm>
              <a:off x="4006596" y="327802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Shape 28">
              <a:extLst>
                <a:ext uri="{FF2B5EF4-FFF2-40B4-BE49-F238E27FC236}">
                  <a16:creationId xmlns:a16="http://schemas.microsoft.com/office/drawing/2014/main" id="{4A4C3FDB-F048-D47F-6E70-4E58A42FD49B}"/>
                </a:ext>
              </a:extLst>
            </p:cNvPr>
            <p:cNvSpPr/>
            <p:nvPr/>
          </p:nvSpPr>
          <p:spPr>
            <a:xfrm>
              <a:off x="4006596" y="336061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Shape 29">
              <a:extLst>
                <a:ext uri="{FF2B5EF4-FFF2-40B4-BE49-F238E27FC236}">
                  <a16:creationId xmlns:a16="http://schemas.microsoft.com/office/drawing/2014/main" id="{BC61195D-F2D0-EA7F-2256-22C2AB8F1A2F}"/>
                </a:ext>
              </a:extLst>
            </p:cNvPr>
            <p:cNvSpPr/>
            <p:nvPr/>
          </p:nvSpPr>
          <p:spPr>
            <a:xfrm>
              <a:off x="4006596" y="344320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Shape 30">
              <a:extLst>
                <a:ext uri="{FF2B5EF4-FFF2-40B4-BE49-F238E27FC236}">
                  <a16:creationId xmlns:a16="http://schemas.microsoft.com/office/drawing/2014/main" id="{051E2E95-01EA-2B2E-E1F2-01DB8B1180E7}"/>
                </a:ext>
              </a:extLst>
            </p:cNvPr>
            <p:cNvSpPr/>
            <p:nvPr/>
          </p:nvSpPr>
          <p:spPr>
            <a:xfrm>
              <a:off x="4006596" y="352579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Shape 31">
              <a:extLst>
                <a:ext uri="{FF2B5EF4-FFF2-40B4-BE49-F238E27FC236}">
                  <a16:creationId xmlns:a16="http://schemas.microsoft.com/office/drawing/2014/main" id="{6D8EE34C-C896-0FAA-4099-505DBA5F2530}"/>
                </a:ext>
              </a:extLst>
            </p:cNvPr>
            <p:cNvSpPr/>
            <p:nvPr/>
          </p:nvSpPr>
          <p:spPr>
            <a:xfrm>
              <a:off x="4006596" y="360839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Shape 32">
              <a:extLst>
                <a:ext uri="{FF2B5EF4-FFF2-40B4-BE49-F238E27FC236}">
                  <a16:creationId xmlns:a16="http://schemas.microsoft.com/office/drawing/2014/main" id="{D7D16039-EB5D-3763-741D-1242F3B6B358}"/>
                </a:ext>
              </a:extLst>
            </p:cNvPr>
            <p:cNvSpPr/>
            <p:nvPr/>
          </p:nvSpPr>
          <p:spPr>
            <a:xfrm>
              <a:off x="4006596" y="369098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Shape 33">
              <a:extLst>
                <a:ext uri="{FF2B5EF4-FFF2-40B4-BE49-F238E27FC236}">
                  <a16:creationId xmlns:a16="http://schemas.microsoft.com/office/drawing/2014/main" id="{18574732-4177-A873-97F3-D51B0F0AC7A4}"/>
                </a:ext>
              </a:extLst>
            </p:cNvPr>
            <p:cNvSpPr/>
            <p:nvPr/>
          </p:nvSpPr>
          <p:spPr>
            <a:xfrm>
              <a:off x="4006596" y="377357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Shape 34">
              <a:extLst>
                <a:ext uri="{FF2B5EF4-FFF2-40B4-BE49-F238E27FC236}">
                  <a16:creationId xmlns:a16="http://schemas.microsoft.com/office/drawing/2014/main" id="{3140D1A0-C890-82CE-C8D8-CDAD4957B5A7}"/>
                </a:ext>
              </a:extLst>
            </p:cNvPr>
            <p:cNvSpPr/>
            <p:nvPr/>
          </p:nvSpPr>
          <p:spPr>
            <a:xfrm>
              <a:off x="4006596" y="385616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Shape 35">
              <a:extLst>
                <a:ext uri="{FF2B5EF4-FFF2-40B4-BE49-F238E27FC236}">
                  <a16:creationId xmlns:a16="http://schemas.microsoft.com/office/drawing/2014/main" id="{9317B0B4-2E34-E996-2958-E392CAFE0AF9}"/>
                </a:ext>
              </a:extLst>
            </p:cNvPr>
            <p:cNvSpPr/>
            <p:nvPr/>
          </p:nvSpPr>
          <p:spPr>
            <a:xfrm>
              <a:off x="4006596" y="393875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Shape 36">
              <a:extLst>
                <a:ext uri="{FF2B5EF4-FFF2-40B4-BE49-F238E27FC236}">
                  <a16:creationId xmlns:a16="http://schemas.microsoft.com/office/drawing/2014/main" id="{33629561-1BD6-8DBF-3D73-7F0D79C264FF}"/>
                </a:ext>
              </a:extLst>
            </p:cNvPr>
            <p:cNvSpPr/>
            <p:nvPr/>
          </p:nvSpPr>
          <p:spPr>
            <a:xfrm>
              <a:off x="4006596" y="402134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Shape 37">
              <a:extLst>
                <a:ext uri="{FF2B5EF4-FFF2-40B4-BE49-F238E27FC236}">
                  <a16:creationId xmlns:a16="http://schemas.microsoft.com/office/drawing/2014/main" id="{7240DE26-ED57-D1E9-56AA-A22CB709EF71}"/>
                </a:ext>
              </a:extLst>
            </p:cNvPr>
            <p:cNvSpPr/>
            <p:nvPr/>
          </p:nvSpPr>
          <p:spPr>
            <a:xfrm>
              <a:off x="4006596" y="410393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Shape 38">
              <a:extLst>
                <a:ext uri="{FF2B5EF4-FFF2-40B4-BE49-F238E27FC236}">
                  <a16:creationId xmlns:a16="http://schemas.microsoft.com/office/drawing/2014/main" id="{294DCDB9-82BD-163B-6240-921C3CF64695}"/>
                </a:ext>
              </a:extLst>
            </p:cNvPr>
            <p:cNvSpPr/>
            <p:nvPr/>
          </p:nvSpPr>
          <p:spPr>
            <a:xfrm>
              <a:off x="4006596" y="418652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Shape 39">
              <a:extLst>
                <a:ext uri="{FF2B5EF4-FFF2-40B4-BE49-F238E27FC236}">
                  <a16:creationId xmlns:a16="http://schemas.microsoft.com/office/drawing/2014/main" id="{52F9EC7F-71B7-F1DC-27F1-0CE3D4B09FBD}"/>
                </a:ext>
              </a:extLst>
            </p:cNvPr>
            <p:cNvSpPr/>
            <p:nvPr/>
          </p:nvSpPr>
          <p:spPr>
            <a:xfrm>
              <a:off x="4006596" y="426911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Shape 40">
              <a:extLst>
                <a:ext uri="{FF2B5EF4-FFF2-40B4-BE49-F238E27FC236}">
                  <a16:creationId xmlns:a16="http://schemas.microsoft.com/office/drawing/2014/main" id="{07E0B188-17AA-5D7B-BEA2-08F35F99FFB9}"/>
                </a:ext>
              </a:extLst>
            </p:cNvPr>
            <p:cNvSpPr/>
            <p:nvPr/>
          </p:nvSpPr>
          <p:spPr>
            <a:xfrm>
              <a:off x="4006596" y="435170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Shape 41">
              <a:extLst>
                <a:ext uri="{FF2B5EF4-FFF2-40B4-BE49-F238E27FC236}">
                  <a16:creationId xmlns:a16="http://schemas.microsoft.com/office/drawing/2014/main" id="{E3F5BABC-06A0-4A4E-C144-A50DC89C54BF}"/>
                </a:ext>
              </a:extLst>
            </p:cNvPr>
            <p:cNvSpPr/>
            <p:nvPr/>
          </p:nvSpPr>
          <p:spPr>
            <a:xfrm>
              <a:off x="4006596" y="443429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Shape 42">
              <a:extLst>
                <a:ext uri="{FF2B5EF4-FFF2-40B4-BE49-F238E27FC236}">
                  <a16:creationId xmlns:a16="http://schemas.microsoft.com/office/drawing/2014/main" id="{E14DFCD5-8216-EBCC-EC52-5C1D3E9F990D}"/>
                </a:ext>
              </a:extLst>
            </p:cNvPr>
            <p:cNvSpPr/>
            <p:nvPr/>
          </p:nvSpPr>
          <p:spPr>
            <a:xfrm>
              <a:off x="4006596" y="451689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Shape 43">
              <a:extLst>
                <a:ext uri="{FF2B5EF4-FFF2-40B4-BE49-F238E27FC236}">
                  <a16:creationId xmlns:a16="http://schemas.microsoft.com/office/drawing/2014/main" id="{9FCE61F3-F724-6A4D-6E94-D1B8F3CA9F72}"/>
                </a:ext>
              </a:extLst>
            </p:cNvPr>
            <p:cNvSpPr/>
            <p:nvPr/>
          </p:nvSpPr>
          <p:spPr>
            <a:xfrm>
              <a:off x="4006596" y="459948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Shape 44">
              <a:extLst>
                <a:ext uri="{FF2B5EF4-FFF2-40B4-BE49-F238E27FC236}">
                  <a16:creationId xmlns:a16="http://schemas.microsoft.com/office/drawing/2014/main" id="{C481F598-3083-9B34-0C58-10238633133F}"/>
                </a:ext>
              </a:extLst>
            </p:cNvPr>
            <p:cNvSpPr/>
            <p:nvPr/>
          </p:nvSpPr>
          <p:spPr>
            <a:xfrm>
              <a:off x="4006596" y="468207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Shape 45">
              <a:extLst>
                <a:ext uri="{FF2B5EF4-FFF2-40B4-BE49-F238E27FC236}">
                  <a16:creationId xmlns:a16="http://schemas.microsoft.com/office/drawing/2014/main" id="{27AA6887-B3A2-9486-25F8-F30436E20849}"/>
                </a:ext>
              </a:extLst>
            </p:cNvPr>
            <p:cNvSpPr/>
            <p:nvPr/>
          </p:nvSpPr>
          <p:spPr>
            <a:xfrm>
              <a:off x="4006596" y="476466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Shape 46">
              <a:extLst>
                <a:ext uri="{FF2B5EF4-FFF2-40B4-BE49-F238E27FC236}">
                  <a16:creationId xmlns:a16="http://schemas.microsoft.com/office/drawing/2014/main" id="{DF6B33D4-DA02-C4A7-61E7-581CA4E04573}"/>
                </a:ext>
              </a:extLst>
            </p:cNvPr>
            <p:cNvSpPr/>
            <p:nvPr/>
          </p:nvSpPr>
          <p:spPr>
            <a:xfrm>
              <a:off x="4006596" y="484725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Shape 47">
              <a:extLst>
                <a:ext uri="{FF2B5EF4-FFF2-40B4-BE49-F238E27FC236}">
                  <a16:creationId xmlns:a16="http://schemas.microsoft.com/office/drawing/2014/main" id="{E3C91251-5D89-F994-7007-1B986E6E06FA}"/>
                </a:ext>
              </a:extLst>
            </p:cNvPr>
            <p:cNvSpPr/>
            <p:nvPr/>
          </p:nvSpPr>
          <p:spPr>
            <a:xfrm>
              <a:off x="4006596" y="492984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Shape 48">
              <a:extLst>
                <a:ext uri="{FF2B5EF4-FFF2-40B4-BE49-F238E27FC236}">
                  <a16:creationId xmlns:a16="http://schemas.microsoft.com/office/drawing/2014/main" id="{E125012B-C5F9-EBFE-42E1-0FD2727ACD64}"/>
                </a:ext>
              </a:extLst>
            </p:cNvPr>
            <p:cNvSpPr/>
            <p:nvPr/>
          </p:nvSpPr>
          <p:spPr>
            <a:xfrm>
              <a:off x="4006596" y="501243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2" name="Shape 3">
            <a:extLst>
              <a:ext uri="{FF2B5EF4-FFF2-40B4-BE49-F238E27FC236}">
                <a16:creationId xmlns:a16="http://schemas.microsoft.com/office/drawing/2014/main" id="{5FB63EAE-2895-536D-10C0-2FA2293B97D1}"/>
              </a:ext>
            </a:extLst>
          </p:cNvPr>
          <p:cNvSpPr/>
          <p:nvPr/>
        </p:nvSpPr>
        <p:spPr>
          <a:xfrm>
            <a:off x="3294186" y="2001632"/>
            <a:ext cx="457200" cy="457200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49">
            <a:extLst>
              <a:ext uri="{FF2B5EF4-FFF2-40B4-BE49-F238E27FC236}">
                <a16:creationId xmlns:a16="http://schemas.microsoft.com/office/drawing/2014/main" id="{03415360-DC97-C725-EF1E-87812FAB9ECF}"/>
              </a:ext>
            </a:extLst>
          </p:cNvPr>
          <p:cNvSpPr/>
          <p:nvPr/>
        </p:nvSpPr>
        <p:spPr>
          <a:xfrm>
            <a:off x="7943541" y="1822606"/>
            <a:ext cx="26295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Concentration head</a:t>
            </a:r>
            <a:endParaRPr lang="en-US" sz="1200" dirty="0"/>
          </a:p>
        </p:txBody>
      </p:sp>
      <p:pic>
        <p:nvPicPr>
          <p:cNvPr id="175" name="Graphic 174" descr="Caret Left with solid fill">
            <a:extLst>
              <a:ext uri="{FF2B5EF4-FFF2-40B4-BE49-F238E27FC236}">
                <a16:creationId xmlns:a16="http://schemas.microsoft.com/office/drawing/2014/main" id="{2DD7D848-CD8B-D48E-EC0D-068512BB7D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682829">
            <a:off x="7574782" y="1613767"/>
            <a:ext cx="914400" cy="914400"/>
          </a:xfrm>
          <a:prstGeom prst="rect">
            <a:avLst/>
          </a:prstGeom>
        </p:spPr>
      </p:pic>
      <p:pic>
        <p:nvPicPr>
          <p:cNvPr id="176" name="Graphic 175" descr="Caret Left with solid fill">
            <a:extLst>
              <a:ext uri="{FF2B5EF4-FFF2-40B4-BE49-F238E27FC236}">
                <a16:creationId xmlns:a16="http://schemas.microsoft.com/office/drawing/2014/main" id="{0A366D51-B567-2673-84FD-A1CDA6719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111189">
            <a:off x="10029444" y="1604463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 </a:t>
            </a:r>
            <a:r>
              <a:rPr lang="en-US" sz="15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how much of the true variation the model explains (1 = exact, 0 = no better than the mean). Unitless, and stricter than shape alone.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A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 </a:t>
            </a:r>
            <a:r>
              <a:rPr lang="en-US" sz="15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does the prediction move up and down with the truth (shape only). n/a on a flat signal: nothing to correlate.</a:t>
            </a:r>
            <a:endParaRPr lang="en-US" sz="15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679323"/>
              </p:ext>
            </p:extLst>
          </p:nvPr>
        </p:nvGraphicFramePr>
        <p:xfrm>
          <a:off x="6400800" y="1463040"/>
          <a:ext cx="5212081" cy="4279392"/>
        </p:xfrm>
        <a:graphic>
          <a:graphicData uri="http://schemas.openxmlformats.org/drawingml/2006/table">
            <a:tbl>
              <a:tblPr/>
              <a:tblGrid>
                <a:gridCol w="2772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density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Glycine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Glutamine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7A6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Asparagine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7A6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7A6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6573795" y="5943600"/>
            <a:ext cx="490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i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5 of 8 variables score R² 0.95–0.99. 3 amino acids are too flat to score (n/a) but the model still tracks them.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Model’s Predicted v. True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DEB0EC-CB6B-C160-A666-1473BF92A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95" y="1015084"/>
            <a:ext cx="10643129" cy="54588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6016" y="6532335"/>
            <a:ext cx="11669486" cy="651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falling on the diagonal = perfect.  </a:t>
            </a:r>
            <a:r>
              <a:rPr lang="en-US" sz="12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hugs the line, including the three amino acids (bottom row), which now spread along the diagonal instead of collapsing to a flat blob.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Titer Predictions</a:t>
            </a:r>
            <a:endParaRPr lang="en-US" sz="3200" dirty="0"/>
          </a:p>
        </p:txBody>
      </p:sp>
      <p:pic>
        <p:nvPicPr>
          <p:cNvPr id="3" name="Image 0" descr="/Users/nevecallaway/code/COSMIC-dFBA-nn/figures/nn_baseline_r2_Titer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1247120" cy="4087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the peak and decline of days 6–12 on its own.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1FFD-9EDB-6A2E-E07A-9895AD65E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D49773-3EF9-A785-9AF6-DBCD7AEA307F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Density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662A7CC4-BD03-23EB-AEA9-C3BB5EE65F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2602" y="1371600"/>
            <a:ext cx="11236316" cy="408736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8548506-780C-1E23-2A2C-3CD6AF8931D1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the peak and decline of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355913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622D-67E0-35E4-7747-945F79044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B47237-1FB8-E795-9E2C-54C85E99D0F5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Size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A038C576-BC13-84AA-9DB3-CBE5CD1A47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2602" y="1371600"/>
            <a:ext cx="11236316" cy="4087367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FA919507-93D1-9C9E-663D-8D049684AA1D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the peak and decline of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653644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0BA59-4D94-2D91-CDA1-2615A05D1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5FE234-6FAD-15D7-0AE5-FE900E280EB4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Glucose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3AEC2F0F-E3F8-20E9-EA68-129A6DD378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111" y="1371600"/>
            <a:ext cx="11165297" cy="4087367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F9DAA03-15E4-3C1C-6C14-0BA59D69AC26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the peak and decline of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458704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Inference: NN vs the mechanistic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 min  →  0.0013 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COSMIC-dFBA takes </a:t>
            </a:r>
            <a:r>
              <a:rPr lang="en-US" sz="160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minutes per reactor.</a:t>
            </a: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NN predicts the same run in 0.0013 ms, hundreds of millions of times faster.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500" b="1" dirty="0">
                <a:solidFill>
                  <a:srgbClr val="3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(Sarat).  </a:t>
            </a:r>
            <a:r>
              <a:rPr lang="en-US" sz="1600" dirty="0"/>
              <a:t>Any empirical model will outperform a mechanistic flux-balance simulation in speed, so this result is expected.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81508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comparison: our fast synthetic generator (a simplified ODE, what we train on), not COSMIC-dFBA: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468880"/>
          <a:ext cx="5212080" cy="241401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ms/reactor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scipy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ODE (scipy, CPU)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A4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closed-form ODE (GPU)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A4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A4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47,000×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NN (GPU, small)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6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6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47,000×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52120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i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Setup: 1 GPU, 20,000 reactors, small net (1 conv, hidden 32). On this chart the NN ties the exact closed-form ODE, but this is our simplified generator (the fast ODE we train on).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A4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D2474440-6151-F0DB-ED4C-A6D80D3879D7}"/>
              </a:ext>
            </a:extLst>
          </p:cNvPr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AE0BDE87-0CD9-3C34-365F-32D518816B09}"/>
              </a:ext>
            </a:extLst>
          </p:cNvPr>
          <p:cNvSpPr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differentiable, statistical model, not a mechanistic solver, so it can do things the solver can't:</a:t>
            </a:r>
            <a:endParaRPr lang="en-US" sz="16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365557A4-9140-16B9-76EA-825EB455C2D8}"/>
              </a:ext>
            </a:extLst>
          </p:cNvPr>
          <p:cNvSpPr/>
          <p:nvPr/>
        </p:nvSpPr>
        <p:spPr>
          <a:xfrm>
            <a:off x="64008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Fast</a:t>
            </a:r>
            <a:r>
              <a:rPr lang="en-US" sz="1300" i="1" dirty="0">
                <a:solidFill>
                  <a:srgbClr val="C9B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done</a:t>
            </a:r>
            <a:endParaRPr lang="en-US" sz="21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A153B35-1827-AD6C-D651-E19DD834B2E1}"/>
              </a:ext>
            </a:extLst>
          </p:cNvPr>
          <p:cNvSpPr/>
          <p:nvPr/>
        </p:nvSpPr>
        <p:spPr>
          <a:xfrm>
            <a:off x="640080" y="26517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vs ~15 min per run. Cheap enough to run thousands of times, scan conditions, retrain on demand.</a:t>
            </a:r>
            <a:endParaRPr lang="en-US" sz="15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86D19110-8680-11A2-042E-2567A87C4873}"/>
              </a:ext>
            </a:extLst>
          </p:cNvPr>
          <p:cNvSpPr/>
          <p:nvPr/>
        </p:nvSpPr>
        <p:spPr>
          <a:xfrm>
            <a:off x="635508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Differentiable</a:t>
            </a:r>
            <a:r>
              <a:rPr lang="en-US" sz="1300" i="1" dirty="0">
                <a:solidFill>
                  <a:srgbClr val="C9B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inherent</a:t>
            </a:r>
            <a:endParaRPr lang="en-US" sz="21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5C834FBA-4BB8-AD14-B2DD-AB48424148B8}"/>
              </a:ext>
            </a:extLst>
          </p:cNvPr>
          <p:cNvSpPr/>
          <p:nvPr/>
        </p:nvSpPr>
        <p:spPr>
          <a:xfrm>
            <a:off x="6355080" y="26517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take gradients, so you can optimize for a target (e.g. maximize titer) and see how sensitive the output is to each input. A solver can't.</a:t>
            </a:r>
            <a:endParaRPr lang="en-US" sz="15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D4B6A8D9-92D5-5DE1-F103-70BF89E922E8}"/>
              </a:ext>
            </a:extLst>
          </p:cNvPr>
          <p:cNvSpPr/>
          <p:nvPr/>
        </p:nvSpPr>
        <p:spPr>
          <a:xfrm>
            <a:off x="640080" y="4160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Feature importances</a:t>
            </a:r>
            <a:r>
              <a:rPr lang="en-US" sz="1300" i="1" dirty="0">
                <a:solidFill>
                  <a:srgbClr val="C9B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next step</a:t>
            </a:r>
            <a:endParaRPr lang="en-US" sz="21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7EA7E06B-86B4-DDC9-0A95-EDCFDF39E6C1}"/>
              </a:ext>
            </a:extLst>
          </p:cNvPr>
          <p:cNvSpPr/>
          <p:nvPr/>
        </p:nvSpPr>
        <p:spPr>
          <a:xfrm>
            <a:off x="640080" y="46634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out which conditions and media components drive the outcome, i.e. which knobs matter, toward media design.</a:t>
            </a:r>
            <a:endParaRPr lang="en-US" sz="15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707C8EB7-DC89-BC49-557B-E05AD66AD253}"/>
              </a:ext>
            </a:extLst>
          </p:cNvPr>
          <p:cNvSpPr/>
          <p:nvPr/>
        </p:nvSpPr>
        <p:spPr>
          <a:xfrm>
            <a:off x="6355080" y="4160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Confidence limits</a:t>
            </a:r>
            <a:r>
              <a:rPr lang="en-US" sz="1300" i="1" dirty="0">
                <a:solidFill>
                  <a:srgbClr val="C9B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next step</a:t>
            </a:r>
            <a:endParaRPr lang="en-US" sz="21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13F73A7F-551B-228D-6DB9-A8B62830030F}"/>
              </a:ext>
            </a:extLst>
          </p:cNvPr>
          <p:cNvSpPr/>
          <p:nvPr/>
        </p:nvSpPr>
        <p:spPr>
          <a:xfrm>
            <a:off x="6355080" y="46634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report how confident it is: prediction intervals, not just a single number.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potential models, in order of how much physics they embed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EEE2"/>
          </a:solidFill>
          <a:ln w="12700">
            <a:solidFill>
              <a:srgbClr val="E6D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6B2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NN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Predicts next-day concentrations directly, no ODE or physics inside the model. It's the control: it shows the ODE isn't what makes the prediction accurate.</a:t>
            </a:r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EEE2"/>
          </a:solidFill>
          <a:ln w="12700">
            <a:solidFill>
              <a:srgbClr val="E6D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2057400"/>
            <a:ext cx="566928" cy="566928"/>
          </a:xfrm>
          <a:prstGeom prst="ellipse">
            <a:avLst/>
          </a:prstGeom>
          <a:solidFill>
            <a:srgbClr val="3A4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A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neural-ODE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63440" y="34290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The network predicts per-cell fluxes, and a fixed ODE step integrates them into the next-day concentrations. Mass balance is guaranteed. The ODE runs in the forward pass.</a:t>
            </a:r>
          </a:p>
        </p:txBody>
      </p:sp>
      <p:sp>
        <p:nvSpPr>
          <p:cNvPr id="13" name="Shape 11"/>
          <p:cNvSpPr/>
          <p:nvPr/>
        </p:nvSpPr>
        <p:spPr>
          <a:xfrm>
            <a:off x="8138160" y="17373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EEE2"/>
          </a:solidFill>
          <a:ln w="12700">
            <a:solidFill>
              <a:srgbClr val="E6D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58200" y="2057400"/>
            <a:ext cx="566928" cy="566928"/>
          </a:xfrm>
          <a:prstGeom prst="ellipse">
            <a:avLst/>
          </a:prstGeom>
          <a:solidFill>
            <a:srgbClr val="A282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5820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Physics-informed (PINN)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58200" y="34290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Predicts concentrations directly. During training, the ODE is added to the loss as a soft penalty that nudges the model toward the physics; at inference it's gone entirely, so it runs as a plain, fast NN pass.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and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137160" cy="137160"/>
          </a:xfrm>
          <a:prstGeom prst="ellipse">
            <a:avLst/>
          </a:prstGeom>
          <a:solidFill>
            <a:srgbClr val="6B2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synthetic data, a physics analog of the real reactors. Real data is not used for training or magnitudes.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137160" cy="137160"/>
          </a:xfrm>
          <a:prstGeom prst="ellipse">
            <a:avLst/>
          </a:prstGeom>
          <a:solidFill>
            <a:srgbClr val="6B2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after combining all data, so scaling is invertible and concentrations stay interpretable. Cross-sample variance preserved.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31520" y="4343400"/>
            <a:ext cx="137160" cy="137160"/>
          </a:xfrm>
          <a:prstGeom prst="ellipse">
            <a:avLst/>
          </a:prstGeom>
          <a:solidFill>
            <a:srgbClr val="6B2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4206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profiles match the simulator. Window-level holdout for validation, 1–2 windows per reactor. 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 and next steps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92240" y="2148840"/>
            <a:ext cx="137160" cy="137160"/>
          </a:xfrm>
          <a:prstGeom prst="ellipse">
            <a:avLst/>
          </a:prstGeom>
          <a:solidFill>
            <a:srgbClr val="3A4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20116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only as a loose shape/trend check, never magnitude. Conditions largely differ (shared: perfusion rate, eta switch, operating factors, O₂). 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492240" y="3128890"/>
            <a:ext cx="137160" cy="137160"/>
          </a:xfrm>
          <a:prstGeom prst="ellipse">
            <a:avLst/>
          </a:prstGeom>
          <a:solidFill>
            <a:srgbClr val="3A4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3484096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training: add data for each new condition as it is encountered and retrain (~4 min). 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492240" y="4343400"/>
            <a:ext cx="137160" cy="137160"/>
          </a:xfrm>
          <a:prstGeom prst="ellipse">
            <a:avLst/>
          </a:prstGeom>
          <a:solidFill>
            <a:srgbClr val="3A4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4206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ODE-in-forward inference timing and continuous-time PINN could be explored</a:t>
            </a:r>
            <a:endParaRPr lang="en-US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3D2B9858-65C3-9EAC-07A6-CBBC7C28005D}"/>
              </a:ext>
            </a:extLst>
          </p:cNvPr>
          <p:cNvSpPr/>
          <p:nvPr/>
        </p:nvSpPr>
        <p:spPr>
          <a:xfrm>
            <a:off x="6492240" y="3657600"/>
            <a:ext cx="137160" cy="137160"/>
          </a:xfrm>
          <a:prstGeom prst="ellipse">
            <a:avLst/>
          </a:prstGeom>
          <a:solidFill>
            <a:srgbClr val="3A4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33C38AF1-1595-BF39-C312-DE7D089CF7D6}"/>
              </a:ext>
            </a:extLst>
          </p:cNvPr>
          <p:cNvSpPr/>
          <p:nvPr/>
        </p:nvSpPr>
        <p:spPr>
          <a:xfrm>
            <a:off x="6766560" y="3019865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Find more?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</TotalTime>
  <Words>1188</Words>
  <Application>Microsoft Macintosh PowerPoint</Application>
  <PresentationFormat>Widescreen</PresentationFormat>
  <Paragraphs>137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Neve Callaway</cp:lastModifiedBy>
  <cp:revision>4</cp:revision>
  <dcterms:created xsi:type="dcterms:W3CDTF">2026-08-04T18:52:38Z</dcterms:created>
  <dcterms:modified xsi:type="dcterms:W3CDTF">2026-08-05T15:25:43Z</dcterms:modified>
</cp:coreProperties>
</file>