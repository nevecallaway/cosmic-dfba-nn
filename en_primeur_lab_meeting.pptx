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1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11A"/>
                </a:solidFill>
                <a:latin typeface="Calibri"/>
              </a:rPr>
              <a:t>MSE loss vs epoch (val stays flat = no over-training)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7A6E5A"/>
            </a:solidFill>
            <a:ln w="38100" cap="flat">
              <a:solidFill>
                <a:srgbClr val="7A6E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6E5A"/>
              </a:solidFill>
              <a:ln w="9525" cap="flat">
                <a:solidFill>
                  <a:srgbClr val="7A6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25</c:v>
                  </c:pt>
                  <c:pt idx="1">
                    <c:v>50</c:v>
                  </c:pt>
                  <c:pt idx="2">
                    <c:v>75</c:v>
                  </c:pt>
                  <c:pt idx="3">
                    <c:v>100</c:v>
                  </c:pt>
                  <c:pt idx="4">
                    <c:v>125</c:v>
                  </c:pt>
                  <c:pt idx="5">
                    <c:v>150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0.00056</c:v>
                </c:pt>
                <c:pt idx="1">
                  <c:v>0.0005</c:v>
                </c:pt>
                <c:pt idx="2">
                  <c:v>0.0005</c:v>
                </c:pt>
                <c:pt idx="3">
                  <c:v>0.00046</c:v>
                </c:pt>
                <c:pt idx="4">
                  <c:v>0.00046</c:v>
                </c:pt>
                <c:pt idx="5">
                  <c:v>0.00048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6B2333"/>
            </a:solidFill>
            <a:ln w="38100" cap="flat">
              <a:solidFill>
                <a:srgbClr val="6B2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2333"/>
              </a:solidFill>
              <a:ln w="9525" cap="flat">
                <a:solidFill>
                  <a:srgbClr val="6B2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25</c:v>
                  </c:pt>
                  <c:pt idx="1">
                    <c:v>50</c:v>
                  </c:pt>
                  <c:pt idx="2">
                    <c:v>75</c:v>
                  </c:pt>
                  <c:pt idx="3">
                    <c:v>100</c:v>
                  </c:pt>
                  <c:pt idx="4">
                    <c:v>125</c:v>
                  </c:pt>
                  <c:pt idx="5">
                    <c:v>150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0.00043</c:v>
                </c:pt>
                <c:pt idx="1">
                  <c:v>0.00028</c:v>
                </c:pt>
                <c:pt idx="2">
                  <c:v>0.00029</c:v>
                </c:pt>
                <c:pt idx="3">
                  <c:v>0.00028</c:v>
                </c:pt>
                <c:pt idx="4">
                  <c:v>0.00027</c:v>
                </c:pt>
                <c:pt idx="5">
                  <c:v>0.00034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DE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1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B211A"/>
                </a:solidFill>
                <a:latin typeface="Calibri"/>
              </a:rPr>
              <a:t>Glutamine (normalized) vs 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fix (flat)</c:v>
                </c:pt>
              </c:strCache>
            </c:strRef>
          </c:tx>
          <c:spPr>
            <a:solidFill>
              <a:srgbClr val="7A6E5A"/>
            </a:solidFill>
            <a:ln w="38100" cap="flat">
              <a:solidFill>
                <a:srgbClr val="7A6E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6E5A"/>
              </a:solidFill>
              <a:ln w="9525" cap="flat">
                <a:solidFill>
                  <a:srgbClr val="7A6E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 (dynamic)</c:v>
                </c:pt>
              </c:strCache>
            </c:strRef>
          </c:tx>
          <c:spPr>
            <a:solidFill>
              <a:srgbClr val="6B2333"/>
            </a:solidFill>
            <a:ln w="38100" cap="flat">
              <a:solidFill>
                <a:srgbClr val="6B2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2333"/>
              </a:solidFill>
              <a:ln w="9525" cap="flat">
                <a:solidFill>
                  <a:srgbClr val="6B2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0.35</c:v>
                </c:pt>
                <c:pt idx="1">
                  <c:v>0.95</c:v>
                </c:pt>
                <c:pt idx="2">
                  <c:v>0.86</c:v>
                </c:pt>
                <c:pt idx="3">
                  <c:v>0.62</c:v>
                </c:pt>
                <c:pt idx="4">
                  <c:v>0.5</c:v>
                </c:pt>
                <c:pt idx="5">
                  <c:v>0.42</c:v>
                </c:pt>
                <c:pt idx="6">
                  <c:v>0.3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A6E5A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7A6E5A"/>
                    </a:solidFill>
                    <a:latin typeface="Calibri"/>
                  </a:rPr>
                  <a:t>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E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DE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E5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21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evecallaway/code/COSMIC-dFBA-nn/figures/logo_en_prime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0" y="19659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fast, physics-informed neural surrogate</a:t>
            </a:r>
            <a:endParaRPr lang="en-US" sz="2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CHO bioreactor dynamics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943600" y="3429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a full cell-culture run from its first few days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943600" y="4160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 Callaway</a:t>
            </a:r>
            <a:pPr algn="l" indent="0" marL="0">
              <a:buNone/>
            </a:pPr>
            <a:r>
              <a:rPr lang="en-US" sz="14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Lab meeting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goal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model.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dynamic flux-balance analysis: a system of ODEs that turns fluxes and feed conditions into the daily trajectory of a cell culture. Accurate, but slow to solve.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goal.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solver with a small neural network that forecasts the whole run, cell density, metabolites, antibody titer, from the early days plus the operating conditions.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matters.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times faster, and differentiable, so it plugs into design and optimization.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737360"/>
            <a:ext cx="4297680" cy="3840480"/>
          </a:xfrm>
          <a:prstGeom prst="roundRect">
            <a:avLst>
              <a:gd name="adj" fmla="val 2857"/>
            </a:avLst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524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i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primeur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35240" y="27889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wine before it is bottled, tasting the young vintage to forecast the finished product.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35240" y="4160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A28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 the same for a bioreactor: predict the finished run from its first few days.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in order of how much physics they embed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6B23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NN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next-day concentrations directly. No ODE at all. The control that shows the ODE is not what makes it accurate.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057400"/>
            <a:ext cx="566928" cy="566928"/>
          </a:xfrm>
          <a:prstGeom prst="ellipse">
            <a:avLst/>
          </a:prstGeom>
          <a:solidFill>
            <a:srgbClr val="3A4A2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neural-ODE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predicts per-cell fluxes; a fixed ODE step integrates them. Mass balance by construction. ODE in the forward pass.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2057400"/>
            <a:ext cx="566928" cy="566928"/>
          </a:xfrm>
          <a:prstGeom prst="ellipse">
            <a:avLst/>
          </a:prstGeom>
          <a:solidFill>
            <a:srgbClr val="A2823E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Physics-informed (PINN)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58200" y="34290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concentrations, with the ODE only as a soft training penalty. Solver-free at inference, so it keeps the speedup.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were right #1: look at the loss curves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no validation split. We added one, and it changed the story twice: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46304" cy="146304"/>
          </a:xfrm>
          <a:prstGeom prst="ellipse">
            <a:avLst/>
          </a:prstGeom>
          <a:solidFill>
            <a:srgbClr val="A282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small-data model was under-training, not over-fitting.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46304" cy="146304"/>
          </a:xfrm>
          <a:prstGeom prst="ellipse">
            <a:avLst/>
          </a:prstGeom>
          <a:solidFill>
            <a:srgbClr val="A2823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corrected an earlier result we had overstated.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146304" cy="146304"/>
          </a:xfrm>
          <a:prstGeom prst="ellipse">
            <a:avLst/>
          </a:prstGeom>
          <a:solidFill>
            <a:srgbClr val="A2823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03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Best-epoch numbers alone were misleading, the curve is what showed it.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Demanding the curves is what surfaced this.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858000" y="1691640"/>
          <a:ext cx="4754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Accuracy: on R², the metric you asked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 </a:t>
            </a:r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how much of the true variation the model explains (1 = exact, 0 = no better than the mean). Unitless, and stricter than shape alone.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 </a:t>
            </a:r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does the prediction move up and down with the truth (shape only). n/a on a flat signal: nothing to correlate.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Zero-negative synthetic data, no clamp.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63040"/>
          <a:ext cx="5212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00584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density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Glycine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Glutamine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Asparagine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28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A6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282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5943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8 score R² 0.95–0.99 (small model: 1 conv layer, hidden 32, chosen for xAI). Amino acids read n/a on the flat-window rule.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model does: predicted vs true</a:t>
            </a:r>
            <a:endParaRPr lang="en-US" sz="3200" dirty="0"/>
          </a:p>
        </p:txBody>
      </p:sp>
      <p:pic>
        <p:nvPicPr>
          <p:cNvPr id="3" name="Image 0" descr="/Users/nevecallaway/code/COSMIC-dFBA-nn/figures/nn_baseline_parit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087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on the diagonal = perfect.  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hugs the line, including the three amino acids (bottom row), which now spread along the diagonal instead of collapsing to a flat blob.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forecast in action: titer</a:t>
            </a:r>
            <a:endParaRPr lang="en-US" sz="3200" dirty="0"/>
          </a:p>
        </p:txBody>
      </p:sp>
      <p:pic>
        <p:nvPicPr>
          <p:cNvPr id="3" name="Image 0" descr="/Users/nevecallaway/code/COSMIC-dFBA-nn/figures/nn_baseline_r2_Titer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087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= the true run.  Red dashed = the NN's forecast.  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only days 0–6 (left of the line), then predicts the peak and decline of days 6–12 on its own. R² 0.97.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data-generation bug we found and fixed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Symptom.  </a:t>
            </a:r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amino acids were flat in our synthetic data, but the real measurements show them changing a lot.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Cause.  </a:t>
            </a:r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pool was tied to a 210×-inflated feed, pinning each amino acid at its feed level.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3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(no clamp).  </a:t>
            </a:r>
            <a:pPr algn="l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starting pool from the feed, size the feed minimally, and raise the glucose feed. Result: real dynamics and zero negative values, surfaced, never clamped.</a:t>
            </a:r>
            <a:endParaRPr lang="en-US" sz="15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675120" y="173736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Inference: NN vs the mechanistic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min  →  0.0013 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COSMIC-dFBA takes </a:t>
            </a:r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 per reactor</a:t>
            </a:r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(Sarat: 3.7 GHz CPU, no parallelization, 1-day resolution). The NN predicts the same run in 0.0013 ms, hundreds of millions of times faster.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 (Sarat).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empirical model beats a mechanistic flux-balance simulation, so this is expected. COSMIC-dFBA's niche is mechanistic insight; the speed enables real-time use, it is not the contribution.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comparison: our fast synthetic generator (a simplified ODE, what we train on), not COSMIC-dFBA: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468880"/>
          <a:ext cx="52120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109728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ms/reactor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3EC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scipy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3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ODE (scipy, CPU)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1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closed-form ODE (GPU)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A4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47,000×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NN (GPU, small)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47,000×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E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50749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A100, n = 20,000, small net (1 conv, hidden 32). The NN ties the exact closed-form ODE; this is our simplified generator, COSMIC-dFBA (~15 min) is off this chart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state change better than random has </a:t>
            </a:r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what drives it.</a:t>
            </a:r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 those importances out (sensitivity, attention, SHAP) and you get which conditions and media components matter. This does not depend on speed.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0" y="1737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monitoring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0" y="2514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interpretable surrogate enables Process Analytical Technology and Real-Time Release Testing, prediction and explanation 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</a:t>
            </a:r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run, not offline.</a:t>
            </a:r>
            <a:endParaRPr lang="en-US" sz="1700" dirty="0"/>
          </a:p>
          <a:p>
            <a:pPr algn="l" indent="0" marL="0">
              <a:lnSpc>
                <a:spcPct val="120000"/>
              </a:lnSpc>
              <a:buNone/>
            </a:pPr>
            <a:endParaRPr lang="en-US" sz="1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Precedent: Patel &amp; Patel (2026) use SHAP on Raman spectra to find the drivers of glucose and acetate, toward PAT/RTRT.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in training, none at inference (the PINN)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physics-informed design you suggested, not the ODE in the forward pass.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331720" y="2715768"/>
            <a:ext cx="320040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51760" y="22860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286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2715768"/>
            <a:ext cx="320040" cy="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22860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4EEE2"/>
          </a:solidFill>
          <a:ln w="12700">
            <a:solidFill>
              <a:srgbClr val="E6DE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286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75120" y="18288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3A4A2E"/>
          </a:solidFill>
          <a:ln w="12700">
            <a:solidFill>
              <a:srgbClr val="3A4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8288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 head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5120" y="283464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A2823E"/>
          </a:solidFill>
          <a:ln w="12700">
            <a:solidFill>
              <a:srgbClr val="A282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834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head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2715768"/>
            <a:ext cx="685800" cy="-457200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2715768"/>
            <a:ext cx="685800" cy="530352"/>
          </a:xfrm>
          <a:prstGeom prst="line">
            <a:avLst/>
          </a:prstGeom>
          <a:noFill/>
          <a:ln w="25400">
            <a:solidFill>
              <a:srgbClr val="A2823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91540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inference 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154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only (ODE penalty)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6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Result.  </a:t>
            </a:r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physics weight (λ ≈ 0.1) steadies the cell-density forecast, correlation 0.79 → 0.89, with the solver absent at inference.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A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ODE lives only in the loss; at inference we use the concentration head alone.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scope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37160" cy="137160"/>
          </a:xfrm>
          <a:prstGeom prst="ellipse">
            <a:avLst/>
          </a:prstGeom>
          <a:solidFill>
            <a:srgbClr val="6B233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data, a physics analog of the real reactors. Real data is not used for training or magnitudes.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37160" cy="137160"/>
          </a:xfrm>
          <a:prstGeom prst="ellipse">
            <a:avLst/>
          </a:prstGeom>
          <a:solidFill>
            <a:srgbClr val="6B2333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108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after combining all data, so scaling is invertible and concentrations stay interpretable. Cross-sample variance preserved.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137160" cy="137160"/>
          </a:xfrm>
          <a:prstGeom prst="ellipse">
            <a:avLst/>
          </a:prstGeom>
          <a:solidFill>
            <a:srgbClr val="6B233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profiles match the simulator. Window-level holdout, 1–2 windows per reactor. Cell density first (R² 0.99).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A4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and next steps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92240" y="2148840"/>
            <a:ext cx="137160" cy="137160"/>
          </a:xfrm>
          <a:prstGeom prst="ellipse">
            <a:avLst/>
          </a:prstGeom>
          <a:solidFill>
            <a:srgbClr val="3A4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011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only as a loose shape/trend check, never magnitude. Conditions largely differ (shared: perfusion rate, eta switch, operating factors, O₂).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92240" y="3246120"/>
            <a:ext cx="137160" cy="137160"/>
          </a:xfrm>
          <a:prstGeom prst="ellipse">
            <a:avLst/>
          </a:prstGeom>
          <a:solidFill>
            <a:srgbClr val="3A4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31089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training: add data for each new condition as it is encountered and retrain (~4 min). The hard part is detecting out-of-distribution inputs, knowing when to add.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92240" y="4343400"/>
            <a:ext cx="137160" cy="137160"/>
          </a:xfrm>
          <a:prstGeom prst="ellipse">
            <a:avLst/>
          </a:prstGeom>
          <a:solidFill>
            <a:srgbClr val="3A4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2062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B2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ODE-in-forward inference timing; continuous-time PINN.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B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3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landed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365760" cy="365760"/>
          </a:xfrm>
          <a:prstGeom prst="ellipse">
            <a:avLst/>
          </a:prstGeom>
          <a:solidFill>
            <a:srgbClr val="A2823E"/>
          </a:solidFill>
          <a:ln/>
        </p:spPr>
      </p:sp>
      <p:sp>
        <p:nvSpPr>
          <p:cNvPr id="4" name="Text 2"/>
          <p:cNvSpPr/>
          <p:nvPr/>
        </p:nvSpPr>
        <p:spPr>
          <a:xfrm>
            <a:off x="1325880" y="184708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your points, the loss curves and the benchmark, changed our conclusions for the better.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365760" cy="365760"/>
          </a:xfrm>
          <a:prstGeom prst="ellipse">
            <a:avLst/>
          </a:prstGeom>
          <a:solidFill>
            <a:srgbClr val="A2823E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80720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physics-informed surrogate is built: accuracy is honest (R² 0.97–1.00 on 5 of 8 variables).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365760" cy="365760"/>
          </a:xfrm>
          <a:prstGeom prst="ellipse">
            <a:avLst/>
          </a:prstGeom>
          <a:solidFill>
            <a:srgbClr val="A2823E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76732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and fixed a data-generation bug, no clamp, zero negatives.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800600"/>
            <a:ext cx="365760" cy="365760"/>
          </a:xfrm>
          <a:prstGeom prst="ellipse">
            <a:avLst/>
          </a:prstGeom>
          <a:solidFill>
            <a:srgbClr val="A2823E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72744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F3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documented and reproducible for the next person.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A28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Primeur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2026-08-04T17:58:31Z</dcterms:created>
  <dcterms:modified xsi:type="dcterms:W3CDTF">2026-08-04T17:58:31Z</dcterms:modified>
</cp:coreProperties>
</file>