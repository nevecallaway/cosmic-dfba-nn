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MSE loss vs epoch (val stays flat = no over-training)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train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0.00056</c:v>
                </c:pt>
                <c:pt idx="1">
                  <c:v>0.0005</c:v>
                </c:pt>
                <c:pt idx="2">
                  <c:v>0.0005</c:v>
                </c:pt>
                <c:pt idx="3">
                  <c:v>0.00046</c:v>
                </c:pt>
                <c:pt idx="4">
                  <c:v>0.00046</c:v>
                </c:pt>
                <c:pt idx="5">
                  <c:v>0.00048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validation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25</c:v>
                  </c:pt>
                  <c:pt idx="1">
                    <c:v>50</c:v>
                  </c:pt>
                  <c:pt idx="2">
                    <c:v>75</c:v>
                  </c:pt>
                  <c:pt idx="3">
                    <c:v>100</c:v>
                  </c:pt>
                  <c:pt idx="4">
                    <c:v>125</c:v>
                  </c:pt>
                  <c:pt idx="5">
                    <c:v>150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0.00043</c:v>
                </c:pt>
                <c:pt idx="1">
                  <c:v>0.00028</c:v>
                </c:pt>
                <c:pt idx="2">
                  <c:v>0.00029</c:v>
                </c:pt>
                <c:pt idx="3">
                  <c:v>0.00028</c:v>
                </c:pt>
                <c:pt idx="4">
                  <c:v>0.00027</c:v>
                </c:pt>
                <c:pt idx="5">
                  <c:v>0.00034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B211A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B211A"/>
                </a:solidFill>
                <a:latin typeface="Calibri"/>
              </a:rPr>
              <a:t>Glutamine (normalized) vs day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fix (flat)</c:v>
                </c:pt>
              </c:strCache>
            </c:strRef>
          </c:tx>
          <c:spPr>
            <a:solidFill>
              <a:srgbClr val="7A6E5A"/>
            </a:solidFill>
            <a:ln w="38100" cap="flat">
              <a:solidFill>
                <a:srgbClr val="7A6E5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7A6E5A"/>
              </a:solidFill>
              <a:ln w="9525" cap="flat">
                <a:solidFill>
                  <a:srgbClr val="7A6E5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0.5</c:v>
                </c:pt>
                <c:pt idx="1">
                  <c:v>0.5</c:v>
                </c:pt>
                <c:pt idx="2">
                  <c:v>0.5</c:v>
                </c:pt>
                <c:pt idx="3">
                  <c:v>0.5</c:v>
                </c:pt>
                <c:pt idx="4">
                  <c:v>0.5</c:v>
                </c:pt>
                <c:pt idx="5">
                  <c:v>0.5</c:v>
                </c:pt>
                <c:pt idx="6">
                  <c:v>0.5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 (dynamic)</c:v>
                </c:pt>
              </c:strCache>
            </c:strRef>
          </c:tx>
          <c:spPr>
            <a:solidFill>
              <a:srgbClr val="6B2333"/>
            </a:solidFill>
            <a:ln w="38100" cap="flat">
              <a:solidFill>
                <a:srgbClr val="6B2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B2333"/>
              </a:solidFill>
              <a:ln w="9525" cap="flat">
                <a:solidFill>
                  <a:srgbClr val="6B2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0.35</c:v>
                </c:pt>
                <c:pt idx="1">
                  <c:v>0.95</c:v>
                </c:pt>
                <c:pt idx="2">
                  <c:v>0.86</c:v>
                </c:pt>
                <c:pt idx="3">
                  <c:v>0.62</c:v>
                </c:pt>
                <c:pt idx="4">
                  <c:v>0.5</c:v>
                </c:pt>
                <c:pt idx="5">
                  <c:v>0.42</c:v>
                </c:pt>
                <c:pt idx="6">
                  <c:v>0.3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7A6E5A"/>
                    </a:solidFill>
                    <a:latin typeface="Calibri"/>
                  </a:defRPr>
                </a:pPr>
                <a:r>
                  <a:rPr sz="1100" b="0" i="0" u="none" strike="noStrike">
                    <a:solidFill>
                      <a:srgbClr val="7A6E5A"/>
                    </a:solidFill>
                    <a:latin typeface="Calibri"/>
                  </a:rPr>
                  <a:t>day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6DEC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A6E5A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2B211A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nevecallaway/code/COSMIC-dFBA-nn/figures/logo_en_prime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5120640" cy="5120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0" y="19659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 neural surrogate of a mechanistic</a:t>
            </a:r>
            <a:endParaRPr lang="en-US" sz="25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bioreactor model</a:t>
            </a:r>
            <a:endParaRPr lang="en-US" sz="2500" dirty="0"/>
          </a:p>
        </p:txBody>
      </p:sp>
      <p:sp>
        <p:nvSpPr>
          <p:cNvPr id="4" name="Text 1"/>
          <p:cNvSpPr/>
          <p:nvPr/>
        </p:nvSpPr>
        <p:spPr>
          <a:xfrm>
            <a:off x="5943600" y="3429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 full cell-culture run from its first few days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5943600" y="4160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 Callaway</a:t>
            </a:r>
            <a:pPr algn="l" indent="0" marL="0">
              <a:buNone/>
            </a:pPr>
            <a:r>
              <a:rPr lang="en-US" sz="14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Lab meeting  ·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problem, and the goal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reference model.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 dynamic flux-balance analysis: a system of ODEs that turns fluxes and feed conditions into the daily trajectory of a cell culture. Accurate, but slow to solve.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3063240"/>
            <a:ext cx="6126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the solver with a small neural network that forecasts the whole run, cell density, metabolites, antibody titer, from the early days plus the operating conditions.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6126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matters.  </a:t>
            </a:r>
            <a:pPr algn="l"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times faster, and differentiable, so it plugs into design and optimization.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315200" y="1737360"/>
            <a:ext cx="4297680" cy="3840480"/>
          </a:xfrm>
          <a:prstGeom prst="roundRect">
            <a:avLst>
              <a:gd name="adj" fmla="val 2857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35240" y="205740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635240" y="2788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a wine before it is bottled, tasting the young vintage to forecast the finished product.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635240" y="41605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A28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does the same for a bioreactor: predict the finished run from its first few days.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models, in order of how much physics they embed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68680" y="2057400"/>
            <a:ext cx="566928" cy="566928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6868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Pure NN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next-day concentrations directly. No ODE at all. The control that shows the ODE is not what makes it accurate.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4340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63440" y="2057400"/>
            <a:ext cx="566928" cy="566928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6344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Hybrid neural-ODE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predicts per-cell fluxes; a fixed ODE step integrates them. Mass balance by construction. ODE in the forward pass.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138160" y="1737360"/>
            <a:ext cx="3520440" cy="3749040"/>
          </a:xfrm>
          <a:prstGeom prst="roundRect">
            <a:avLst>
              <a:gd name="adj" fmla="val 3117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458200" y="2057400"/>
            <a:ext cx="566928" cy="566928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458200" y="2788920"/>
            <a:ext cx="2880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Physics-informed (PINN)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58200" y="3429000"/>
            <a:ext cx="2926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Predicts concentrations, with the ODE only as a soft training penalty. Solver-free at inference, so it keeps the speedup.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architecture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 model: one 1D conv layer, 32 hidden nodes. Every node drawn as a dot.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210312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25196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640080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549640" y="3611880"/>
            <a:ext cx="141732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1705356" y="22997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05356" y="26197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05356" y="29397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05356" y="32598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705356" y="357987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705356" y="389991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705356" y="421995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705356" y="453999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05356" y="4860036"/>
            <a:ext cx="64008" cy="64008"/>
          </a:xfrm>
          <a:prstGeom prst="ellipse">
            <a:avLst/>
          </a:prstGeom>
          <a:solidFill>
            <a:srgbClr val="7A6E5A"/>
          </a:solidFill>
          <a:ln w="12700">
            <a:solidFill>
              <a:srgbClr val="7A6E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input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3152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85419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54196" y="238230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54196" y="246489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54196" y="254748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54196" y="26300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54196" y="27126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54196" y="27952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54196" y="28778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54196" y="29604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54196" y="30430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54196" y="31256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54196" y="32082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54196" y="32908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54196" y="33733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54196" y="34559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854196" y="35385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54196" y="36211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54196" y="37037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854196" y="37863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54196" y="38689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54196" y="39515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54196" y="40341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54196" y="41167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54196" y="41993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854196" y="42818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54196" y="43644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54196" y="44470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854196" y="45296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54196" y="461226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54196" y="469485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54196" y="477744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854196" y="486003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88036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 CNN → attn</a:t>
            </a:r>
            <a:endParaRPr lang="en-US" sz="1400" dirty="0"/>
          </a:p>
        </p:txBody>
      </p:sp>
      <p:sp>
        <p:nvSpPr>
          <p:cNvPr id="52" name="Text 50"/>
          <p:cNvSpPr/>
          <p:nvPr/>
        </p:nvSpPr>
        <p:spPr>
          <a:xfrm>
            <a:off x="288036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00303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03036" y="237502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003036" y="245032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003036" y="252562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03036" y="260093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03036" y="267623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003036" y="275153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03036" y="282684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3036" y="29021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003036" y="297744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03036" y="305275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003036" y="312805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003036" y="320335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003036" y="32786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03036" y="335396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003036" y="342926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003036" y="35045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003036" y="357987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003036" y="36551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003036" y="373048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003036" y="380578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003036" y="38810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3036" y="395639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003036" y="403169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003036" y="410700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003036" y="418230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003036" y="42576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003036" y="433291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003036" y="440821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003036" y="448351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003036" y="455882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003036" y="463412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003036" y="4709429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003036" y="4784732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003036" y="4860036"/>
            <a:ext cx="64008" cy="64008"/>
          </a:xfrm>
          <a:prstGeom prst="ellipse">
            <a:avLst/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502920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DoE</a:t>
            </a:r>
            <a:endParaRPr lang="en-US" sz="1400" dirty="0"/>
          </a:p>
        </p:txBody>
      </p:sp>
      <p:sp>
        <p:nvSpPr>
          <p:cNvPr id="89" name="Text 87"/>
          <p:cNvSpPr/>
          <p:nvPr/>
        </p:nvSpPr>
        <p:spPr>
          <a:xfrm>
            <a:off x="502920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200" dirty="0"/>
          </a:p>
        </p:txBody>
      </p:sp>
      <p:sp>
        <p:nvSpPr>
          <p:cNvPr id="90" name="Shape 88"/>
          <p:cNvSpPr/>
          <p:nvPr/>
        </p:nvSpPr>
        <p:spPr>
          <a:xfrm>
            <a:off x="8151876" y="229971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151876" y="238230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151876" y="246489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151876" y="254748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8151876" y="263008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8151876" y="27126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8151876" y="27952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8151876" y="28778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8151876" y="29604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8151876" y="30430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8151876" y="31256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8151876" y="32082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8151876" y="32908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8151876" y="33733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151876" y="34559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151876" y="35385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151876" y="362117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51876" y="370376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151876" y="378635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151876" y="386894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51876" y="395153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151876" y="403412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151876" y="4116717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151876" y="4199308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151876" y="4281899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151876" y="4364490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8151876" y="4447081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8151876" y="4529672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8151876" y="4612263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8151876" y="4694854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8151876" y="4777445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151876" y="4860036"/>
            <a:ext cx="64008" cy="64008"/>
          </a:xfrm>
          <a:prstGeom prst="ellipse">
            <a:avLst/>
          </a:prstGeom>
          <a:solidFill>
            <a:srgbClr val="6B2333"/>
          </a:solidFill>
          <a:ln w="12700">
            <a:solidFill>
              <a:srgbClr val="6B2333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17804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</a:t>
            </a:r>
            <a:endParaRPr lang="en-US" sz="1400" dirty="0"/>
          </a:p>
        </p:txBody>
      </p:sp>
      <p:sp>
        <p:nvSpPr>
          <p:cNvPr id="123" name="Text 121"/>
          <p:cNvSpPr/>
          <p:nvPr/>
        </p:nvSpPr>
        <p:spPr>
          <a:xfrm>
            <a:off x="717804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200" dirty="0"/>
          </a:p>
        </p:txBody>
      </p:sp>
      <p:sp>
        <p:nvSpPr>
          <p:cNvPr id="124" name="Shape 122"/>
          <p:cNvSpPr/>
          <p:nvPr/>
        </p:nvSpPr>
        <p:spPr>
          <a:xfrm>
            <a:off x="10300716" y="22997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10300716" y="26654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10300716" y="30312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10300716" y="339699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10300716" y="376275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10300716" y="412851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10300716" y="449427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10300716" y="4860036"/>
            <a:ext cx="64008" cy="64008"/>
          </a:xfrm>
          <a:prstGeom prst="ellipse">
            <a:avLst/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9326880" y="502920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day</a:t>
            </a:r>
            <a:endParaRPr lang="en-US" sz="1400" dirty="0"/>
          </a:p>
        </p:txBody>
      </p:sp>
      <p:sp>
        <p:nvSpPr>
          <p:cNvPr id="133" name="Text 131"/>
          <p:cNvSpPr/>
          <p:nvPr/>
        </p:nvSpPr>
        <p:spPr>
          <a:xfrm>
            <a:off x="9326880" y="534924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134" name="Text 1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show flow, not full wiring: conv is local, attention pools the 6 days; the head (35 → 32 → 8) is fully connected.  Gold = the 3 DoE inputs.</a:t>
            </a:r>
            <a:endParaRPr lang="en-US" sz="1200" dirty="0"/>
          </a:p>
        </p:txBody>
      </p:sp>
      <p:sp>
        <p:nvSpPr>
          <p:cNvPr id="135" name="Text 133"/>
          <p:cNvSpPr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output feeds back autoregressively to forecast the whole run.  Hybrid / PINN add a flux head (32 → 8) → ODE step or physics penalty.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were right #1: look at the loss curves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no validation split. We added one, and it changed the story twice: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214884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small-data model was under-training, not over-fitting.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306324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92608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corrected an earlier result we had overstated.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40080" y="3840480"/>
            <a:ext cx="146304" cy="146304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37033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Best-epoch numbers alone were misleading, the curve is what showed it.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0080" y="489204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Demanding the curves is what surfaced this.</a:t>
            </a:r>
            <a:endParaRPr lang="en-US" sz="15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6858000" y="1691640"/>
          <a:ext cx="47548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on R², the metric you asked for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how much of the true variation the model explains (1 = exact, 0 = no better than the mean). Unitless, and stricter than shape alone.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974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ρ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does the prediction move up and down with the truth (shape only). n/a on a flat signal: nothing to correlate.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8862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Zero-negative synthetic data, no clamp.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463040"/>
          <a:ext cx="521208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1005840"/>
                <a:gridCol w="91440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density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 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Glycine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Glutamine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Asparagine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dynamic,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7A6E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A28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0" y="594360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8 score R² 0.95–0.99 (small model: 1 conv layer, hidden 32, chosen for xAI). Amino acids read n/a on the flat-window rule.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model does: predicted vs true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parit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on the diagonal = perfect.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variable hugs the line, including the three amino acids (bottom row), which now spread along the diagonal instead of collapsing to a flat blob.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forecast in action: titer</a:t>
            </a:r>
            <a:endParaRPr lang="en-US" sz="3200" dirty="0"/>
          </a:p>
        </p:txBody>
      </p:sp>
      <p:pic>
        <p:nvPicPr>
          <p:cNvPr id="3" name="Image 0" descr="/Users/nevecallaway/code/COSMIC-dFBA-nn/figures/nn_baseline_r2_Titer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08736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56692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 = the true run.  Red dashed = the NN's forecast.  </a:t>
            </a:r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sees only days 0–6 (left of the line), then predicts the peak and decline of days 6–12 on its own. R² 0.97.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data-generation bug we found and fixed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08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amino acids were flat in our synthetic data, but the real measurements show them changing a lot.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548640" y="265176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starting pool was tied to a 210×-inflated feed, pinning each amino acid at its feed level.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548640" y="370332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5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(no clamp).  </a:t>
            </a:r>
            <a:pPr algn="l"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the starting pool from the feed, size the feed minimally, and raise the glucose feed. Result: real dynamics and zero negative values, surfaced, never clamped.</a:t>
            </a:r>
            <a:endParaRPr lang="en-US" sz="15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675120" y="173736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Inference: NN vs the mechanistic model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463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~15 min  →  0.0013 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2286000"/>
            <a:ext cx="5486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COSMIC-dFBA takes </a:t>
            </a:r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per reactor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(Sarat: 3.7 GHz CPU, no parallelization, 1-day resolution). The NN predicts the same run in 0.0013 ms, hundreds of millions of times faster.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caveat (Sarat).  </a:t>
            </a:r>
            <a:pPr algn="l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empirical model beats a mechanistic flux-balance simulation, so this is expected. COSMIC-dFBA's niche is mechanistic insight; the speed enables real-time use, it is not the contribution.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0" y="1645920"/>
            <a:ext cx="5212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separate comparison: our fast synthetic generator (a simplified ODE, what we train on), not COSMIC-dFBA: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2468880"/>
          <a:ext cx="521208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109728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ms/reactor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3ECD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scipy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B2333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numerical ODE (scipy, CPU)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2B21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closed-form ODE (GPU)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A4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pure NN (GPU, small)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6B2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47,000×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DE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8F2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6400800" y="5074920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A100, n = 20,000, small net (1 conv, hidden 32). The NN ties the exact closed-form ODE; this is our simplified generator, COSMIC-dFBA (~15 min) is off this chart entirely.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A4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 design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51206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predicts state change better than random has </a:t>
            </a:r>
            <a:pPr algn="l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what drives it.</a:t>
            </a:r>
            <a:pPr algn="l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Read those importances out (sensitivity, attention, SHAP) and you get which conditions and media components matter. This does not depend on speed.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0" y="1737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monitoring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400800" y="25146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fast, interpretable surrogate enables Process Analytical Technology and Real-Time Release Testing, prediction and explanation </a:t>
            </a:r>
            <a:pPr algn="l"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</a:t>
            </a:r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run, not offline.</a:t>
            </a: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endParaRPr lang="en-US" sz="17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Precedent: Patel &amp; Patel (2026) use SHAP on Raman spectra to find the drivers of glucose and acetate, toward PAT/RTRT.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in training, none at inference (the PINN)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371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physics-informed design you suggested, not the ODE in the forward pass.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233172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65176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 CNN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43400" y="2715768"/>
            <a:ext cx="320040" cy="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286000"/>
            <a:ext cx="1691640" cy="868680"/>
          </a:xfrm>
          <a:prstGeom prst="roundRect">
            <a:avLst>
              <a:gd name="adj" fmla="val 10526"/>
            </a:avLst>
          </a:prstGeom>
          <a:solidFill>
            <a:srgbClr val="F4EEE2"/>
          </a:solidFill>
          <a:ln w="12700">
            <a:solidFill>
              <a:srgbClr val="E6DEC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2286000"/>
            <a:ext cx="1691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675120" y="182880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3A4A2E"/>
          </a:solidFill>
          <a:ln w="12700">
            <a:solidFill>
              <a:srgbClr val="3A4A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75120" y="18288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 head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675120" y="2834640"/>
            <a:ext cx="2103120" cy="822960"/>
          </a:xfrm>
          <a:prstGeom prst="roundRect">
            <a:avLst>
              <a:gd name="adj" fmla="val 11111"/>
            </a:avLst>
          </a:prstGeom>
          <a:solidFill>
            <a:srgbClr val="A2823E"/>
          </a:solidFill>
          <a:ln w="12700">
            <a:solidFill>
              <a:srgbClr val="A2823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75120" y="283464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head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89320" y="2715768"/>
            <a:ext cx="685800" cy="-457200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989320" y="2715768"/>
            <a:ext cx="685800" cy="530352"/>
          </a:xfrm>
          <a:prstGeom prst="line">
            <a:avLst/>
          </a:prstGeom>
          <a:noFill/>
          <a:ln w="25400">
            <a:solidFill>
              <a:srgbClr val="A2823E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8915400" y="19659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4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at inference 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915400" y="2971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only (ODE penalty)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420624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6B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Result.  </a:t>
            </a:r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physics weight (λ ≈ 0.1) steadies the cell-density forecast, correlation 0.79 → 0.89, with the solver absent at inference.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7A6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ODE lives only in the loss; at inference we use the concentration head alone.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next steps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6B23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and scope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on synthetic data, a physics analog of the real reactors. Real data is not used for training or magnitudes.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31520" y="324612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after combining all data, so scaling is invertible and concentrations stay interpretable. Cross-sample variance preserved.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731520" y="4343400"/>
            <a:ext cx="137160" cy="137160"/>
          </a:xfrm>
          <a:prstGeom prst="ellipse">
            <a:avLst/>
          </a:prstGeom>
          <a:solidFill>
            <a:srgbClr val="6B2333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= profiles match the simulator. Window-level holdout, 1–2 windows per reactor. Cell density first (R² 0.99).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0" y="14173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A4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data and next steps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492240" y="214884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201168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 only as a loose shape/trend check, never magnitude. Conditions largely differ (shared: perfusion rate, eta switch, operating factors, O₂).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92240" y="324612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310896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training: add data for each new condition as it is encountered and retrain (~4 min). The hard part is detecting out-of-distribution inputs, knowing when to add.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4343400"/>
            <a:ext cx="137160" cy="137160"/>
          </a:xfrm>
          <a:prstGeom prst="ellipse">
            <a:avLst/>
          </a:prstGeom>
          <a:solidFill>
            <a:srgbClr val="3A4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766560" y="42062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2B21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ODE-in-forward inference timing; continuous-time PINN.</a:t>
            </a:r>
            <a:endParaRPr lang="en-US" sz="1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B2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3ECD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we landed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4" name="Text 2"/>
          <p:cNvSpPr/>
          <p:nvPr/>
        </p:nvSpPr>
        <p:spPr>
          <a:xfrm>
            <a:off x="1325880" y="184708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points, the loss curves and the benchmark, changed our conclusions for the better.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88036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280720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physics-informed surrogate is built: accuracy is honest (R² 0.97–1.00 on 5 of 8 variables).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384048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8" name="Text 6"/>
          <p:cNvSpPr/>
          <p:nvPr/>
        </p:nvSpPr>
        <p:spPr>
          <a:xfrm>
            <a:off x="1325880" y="37673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found and fixed a data-generation bug, no clamp, zero negatives.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4800600"/>
            <a:ext cx="365760" cy="365760"/>
          </a:xfrm>
          <a:prstGeom prst="ellipse">
            <a:avLst/>
          </a:prstGeom>
          <a:solidFill>
            <a:srgbClr val="A2823E"/>
          </a:solidFill>
          <a:ln/>
        </p:spPr>
      </p:sp>
      <p:sp>
        <p:nvSpPr>
          <p:cNvPr id="10" name="Text 8"/>
          <p:cNvSpPr/>
          <p:nvPr/>
        </p:nvSpPr>
        <p:spPr>
          <a:xfrm>
            <a:off x="1325880" y="472744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3EC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documented and reproducible for the next person.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rgbClr val="A2823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Primeur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2026-08-04T18:52:38Z</dcterms:created>
  <dcterms:modified xsi:type="dcterms:W3CDTF">2026-08-04T18:52:38Z</dcterms:modified>
</cp:coreProperties>
</file>