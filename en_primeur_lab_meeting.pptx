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MSE loss vs epoch (val stays flat = no over-training)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0.00056</c:v>
                </c:pt>
                <c:pt idx="1">
                  <c:v>0.0005</c:v>
                </c:pt>
                <c:pt idx="2">
                  <c:v>0.0005</c:v>
                </c:pt>
                <c:pt idx="3">
                  <c:v>0.00046</c:v>
                </c:pt>
                <c:pt idx="4">
                  <c:v>0.00046</c:v>
                </c:pt>
                <c:pt idx="5">
                  <c:v>0.00048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0.00043</c:v>
                </c:pt>
                <c:pt idx="1">
                  <c:v>0.00028</c:v>
                </c:pt>
                <c:pt idx="2">
                  <c:v>0.00029</c:v>
                </c:pt>
                <c:pt idx="3">
                  <c:v>0.00028</c:v>
                </c:pt>
                <c:pt idx="4">
                  <c:v>0.00027</c:v>
                </c:pt>
                <c:pt idx="5">
                  <c:v>0.00034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Glutamine (normalized) vs day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 (flat)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 (dynamic)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</c:v>
                </c:pt>
                <c:pt idx="1">
                  <c:v>0.95</c:v>
                </c:pt>
                <c:pt idx="2">
                  <c:v>0.86</c:v>
                </c:pt>
                <c:pt idx="3">
                  <c:v>0.62</c:v>
                </c:pt>
                <c:pt idx="4">
                  <c:v>0.5</c:v>
                </c:pt>
                <c:pt idx="5">
                  <c:v>0.42</c:v>
                </c:pt>
                <c:pt idx="6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A6E5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7A6E5A"/>
                    </a:solidFill>
                    <a:latin typeface="Calibri"/>
                  </a:rPr>
                  <a:t>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evecallaway/code/COSMIC-dFBA-nn/figures/logo_en_prim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0" y="1965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fast, physics-informed neural surrogate</a:t>
            </a:r>
            <a:endParaRPr lang="en-US" sz="2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CHO bioreactor dynamics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594360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 full cell-culture run from its first few days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943600" y="4160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 Callaway</a:t>
            </a:r>
            <a:pPr algn="l" indent="0" marL="0">
              <a:buNone/>
            </a:pPr>
            <a:r>
              <a:rPr lang="en-US" sz="14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Lab meeting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the goal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model.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 dynamic flux-balance analysis: a system of ODEs that turns fluxes and feed conditions into the daily trajectory of a cell culture. Accurate, but slow to solve.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solver with a small neural network that forecasts the whole run, cell density, metabolites, antibody titer, from the early days plus the operating conditions.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times faster, and differentiable, so it plugs into design and optimization.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737360"/>
            <a:ext cx="4297680" cy="3840480"/>
          </a:xfrm>
          <a:prstGeom prst="roundRect">
            <a:avLst>
              <a:gd name="adj" fmla="val 2857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635240" y="2788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wine before it is bottled, tasting the young vintage to forecast the finished product.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41605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A28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does the same for a bioreactor: predict the finished run from its first few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in order of how much physics they embed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2057400"/>
            <a:ext cx="566928" cy="566928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next-day concentrations directly. No ODE at all. The control that shows the ODE is not what makes it accurate.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057400"/>
            <a:ext cx="566928" cy="566928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neural-ODE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per-cell fluxes; a fixed ODE step integrates them. Mass balance by construction. ODE in the forward pass.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58200" y="2057400"/>
            <a:ext cx="566928" cy="566928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5820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(PINN)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concentrations, with the ODE only as a soft training penalty. Solver-free at inference, so it keeps the speedup.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right #1: look at the loss curves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no validation split. We added one, and it changed the story twice: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small-data model was under-training, not over-fitting.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corrected an earlier result we had overstated.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03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Best-epoch numbers alone were misleading, the curve is what showed it.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" y="4892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the curves is what surfaced this.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0" y="1691640"/>
          <a:ext cx="47548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Accuracy: on R², the metric you asked for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much of the true variation the model explains (1 = exact, 0 = no better than the mean). Unitless, and stricter than shape alone.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the prediction move up and down with the truth (shape only). n/a on a flat signal: nothing to correlate.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Zero-negative synthetic data, no clamp.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005840"/>
                <a:gridCol w="914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density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Glycine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Glutamine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Asparagine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dynamic,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59893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8 score R² 0.97–1.00; the amino acids read n/a only on the flat-window rule.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model does: predicted vs true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parity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on the diagonal = perfect.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hugs the line, including the three amino acids (bottom row), which now spread along the diagonal instead of collapsing to a flat blob.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in action: titer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r2_Titer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true run.  Red dashed = the NN's forecast.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the peak and decline of days 6–12 on its own. R² 0.97.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data-generation bug we found and fixed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amino acids were flat in our synthetic data, but the real measurements show them changing a lot.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pool was tied to a 210×-inflated feed, pinning each amino acid at its feed level.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(no clamp).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starting pool from the feed, size the feed minimally, and raise the glucose feed. Result: real dynamics and zero negative values, surfaced, never clamped.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675120" y="173736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NN vs generating the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a run = solving the ODE, and that IS the mechanistic model (predictive, just not neural). We time NN inference against it, same device where we can. 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scipy is CPU-only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the fair on-GPU baselines are torchdiffeq and the exact closed-form step.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65760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finding.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this ODE the exact closed-form solve on the GPU is actually faster than the NN. The NN only beats a general solver (~9.5×); the huge scipy number is hardware. Speed is not the win here.</a:t>
            </a:r>
            <a:endParaRPr lang="en-US" sz="1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286000"/>
          <a:ext cx="53035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822960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ms/reactor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scipy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torchdiffeq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 ODE (scipy, 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torchdiffeq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ODE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NN (GPU, real net)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0" y="51663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A100, n = 20,000, sustained loop. NN = real model (hidden 64, 3 conv). Green: the closed-form ODE beats the NN.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state change better than random has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what drives it.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those importances out (sensitivity, attention, SHAP) and you get which conditions and media components matter. This does not depend on speed.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Speed, conditional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than solving the ODE, but the margin depends on the solver. The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win is mechanistic models with no closed form (the full flux-balance COSMIC-dFBA), where a general solver pays a ~2,000× penalty the NN avoids.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in training, none at inference (the PINN)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physics-informed design you suggested, not the ODE in the forward pass.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5176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75120" y="18288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 head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283464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head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89320" y="2715768"/>
            <a:ext cx="685800" cy="-45720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89320" y="2715768"/>
            <a:ext cx="685800" cy="530352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891540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inference 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only (ODE penalty)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physics weight (λ ≈ 0.1) steadies the cell-density forecast, correlation 0.79 → 0.89, with the solver absent at inference.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ODE lives only in the loss; at inference we use the concentration head alone.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synthetic data, a physics analog of the real reactors. Real data is not used for training or magnitudes.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after combining all data, so scaling is invertible and concentrations stay interpretable. Cross-sample variance preserved.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434340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profiles match the simulator. Window-level holdout, 1–2 windows per reactor. Cell density first (R² 0.99).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and next steps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92240" y="214884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only as a loose shape/trend check, never magnitude. Conditions largely differ (shared: perfusion rate, eta switch, operating factors, O₂).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training: add data for each new condition as it is encountered and retrain (~4 min). The hard part is detecting out-of-distribution inputs, knowing when to add.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434340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ODE-in-forward inference timing; continuous-time PINN.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landed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4" name="Text 2"/>
          <p:cNvSpPr/>
          <p:nvPr/>
        </p:nvSpPr>
        <p:spPr>
          <a:xfrm>
            <a:off x="1325880" y="184708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points, the loss curves and the benchmark, changed our conclusions for the better.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80720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physics-informed surrogate is built: accuracy is honest (R² 0.97–1.00 on 5 of 8 variables).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37673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and fixed a data-generation bug, no clamp, zero negatives.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80060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472744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documented and reproducible for the next person.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2026-08-04T16:27:17Z</dcterms:created>
  <dcterms:modified xsi:type="dcterms:W3CDTF">2026-08-04T16:27:17Z</dcterms:modified>
</cp:coreProperties>
</file>