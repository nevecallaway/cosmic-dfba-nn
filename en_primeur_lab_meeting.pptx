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B211A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2B211A"/>
                </a:solidFill>
                <a:latin typeface="Calibri"/>
              </a:rPr>
              <a:t>MSE loss vs epoch (val stays flat = no over-training)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train</c:v>
                </c:pt>
              </c:strCache>
            </c:strRef>
          </c:tx>
          <c:spPr>
            <a:solidFill>
              <a:srgbClr val="7A6E5A"/>
            </a:solidFill>
            <a:ln w="38100" cap="flat">
              <a:solidFill>
                <a:srgbClr val="7A6E5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7A6E5A"/>
              </a:solidFill>
              <a:ln w="9525" cap="flat">
                <a:solidFill>
                  <a:srgbClr val="7A6E5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25</c:v>
                  </c:pt>
                  <c:pt idx="1">
                    <c:v>50</c:v>
                  </c:pt>
                  <c:pt idx="2">
                    <c:v>75</c:v>
                  </c:pt>
                  <c:pt idx="3">
                    <c:v>100</c:v>
                  </c:pt>
                  <c:pt idx="4">
                    <c:v>125</c:v>
                  </c:pt>
                  <c:pt idx="5">
                    <c:v>150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0.00056</c:v>
                </c:pt>
                <c:pt idx="1">
                  <c:v>0.0005</c:v>
                </c:pt>
                <c:pt idx="2">
                  <c:v>0.0005</c:v>
                </c:pt>
                <c:pt idx="3">
                  <c:v>0.00046</c:v>
                </c:pt>
                <c:pt idx="4">
                  <c:v>0.00046</c:v>
                </c:pt>
                <c:pt idx="5">
                  <c:v>0.00048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validation</c:v>
                </c:pt>
              </c:strCache>
            </c:strRef>
          </c:tx>
          <c:spPr>
            <a:solidFill>
              <a:srgbClr val="6B2333"/>
            </a:solidFill>
            <a:ln w="38100" cap="flat">
              <a:solidFill>
                <a:srgbClr val="6B233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6B2333"/>
              </a:solidFill>
              <a:ln w="9525" cap="flat">
                <a:solidFill>
                  <a:srgbClr val="6B233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25</c:v>
                  </c:pt>
                  <c:pt idx="1">
                    <c:v>50</c:v>
                  </c:pt>
                  <c:pt idx="2">
                    <c:v>75</c:v>
                  </c:pt>
                  <c:pt idx="3">
                    <c:v>100</c:v>
                  </c:pt>
                  <c:pt idx="4">
                    <c:v>125</c:v>
                  </c:pt>
                  <c:pt idx="5">
                    <c:v>150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0.00043</c:v>
                </c:pt>
                <c:pt idx="1">
                  <c:v>0.00028</c:v>
                </c:pt>
                <c:pt idx="2">
                  <c:v>0.00029</c:v>
                </c:pt>
                <c:pt idx="3">
                  <c:v>0.00028</c:v>
                </c:pt>
                <c:pt idx="4">
                  <c:v>0.00027</c:v>
                </c:pt>
                <c:pt idx="5">
                  <c:v>0.00034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A6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6DEC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6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B211A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B211A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2B211A"/>
                </a:solidFill>
                <a:latin typeface="Calibri"/>
              </a:rPr>
              <a:t>Glutamine (normalized) vs day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before fix (flat)</c:v>
                </c:pt>
              </c:strCache>
            </c:strRef>
          </c:tx>
          <c:spPr>
            <a:solidFill>
              <a:srgbClr val="7A6E5A"/>
            </a:solidFill>
            <a:ln w="38100" cap="flat">
              <a:solidFill>
                <a:srgbClr val="7A6E5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7A6E5A"/>
              </a:solidFill>
              <a:ln w="9525" cap="flat">
                <a:solidFill>
                  <a:srgbClr val="7A6E5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0</c:v>
                  </c:pt>
                  <c:pt idx="1">
                    <c:v>2</c:v>
                  </c:pt>
                  <c:pt idx="2">
                    <c:v>4</c:v>
                  </c:pt>
                  <c:pt idx="3">
                    <c:v>6</c:v>
                  </c:pt>
                  <c:pt idx="4">
                    <c:v>8</c:v>
                  </c:pt>
                  <c:pt idx="5">
                    <c:v>10</c:v>
                  </c:pt>
                  <c:pt idx="6">
                    <c:v>12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after fix (dynamic)</c:v>
                </c:pt>
              </c:strCache>
            </c:strRef>
          </c:tx>
          <c:spPr>
            <a:solidFill>
              <a:srgbClr val="6B2333"/>
            </a:solidFill>
            <a:ln w="38100" cap="flat">
              <a:solidFill>
                <a:srgbClr val="6B233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6B2333"/>
              </a:solidFill>
              <a:ln w="9525" cap="flat">
                <a:solidFill>
                  <a:srgbClr val="6B233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0</c:v>
                  </c:pt>
                  <c:pt idx="1">
                    <c:v>2</c:v>
                  </c:pt>
                  <c:pt idx="2">
                    <c:v>4</c:v>
                  </c:pt>
                  <c:pt idx="3">
                    <c:v>6</c:v>
                  </c:pt>
                  <c:pt idx="4">
                    <c:v>8</c:v>
                  </c:pt>
                  <c:pt idx="5">
                    <c:v>10</c:v>
                  </c:pt>
                  <c:pt idx="6">
                    <c:v>12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0.35</c:v>
                </c:pt>
                <c:pt idx="1">
                  <c:v>0.95</c:v>
                </c:pt>
                <c:pt idx="2">
                  <c:v>0.86</c:v>
                </c:pt>
                <c:pt idx="3">
                  <c:v>0.62</c:v>
                </c:pt>
                <c:pt idx="4">
                  <c:v>0.5</c:v>
                </c:pt>
                <c:pt idx="5">
                  <c:v>0.42</c:v>
                </c:pt>
                <c:pt idx="6">
                  <c:v>0.3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7A6E5A"/>
                    </a:solidFill>
                    <a:latin typeface="Calibri"/>
                  </a:defRPr>
                </a:pPr>
                <a:r>
                  <a:rPr sz="1100" b="0" i="0" u="none" strike="noStrike">
                    <a:solidFill>
                      <a:srgbClr val="7A6E5A"/>
                    </a:solidFill>
                    <a:latin typeface="Calibri"/>
                  </a:rPr>
                  <a:t>day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A6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6DEC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6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B211A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nevecallaway/code/COSMIC-dFBA-nn/figures/logo_en_primeu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14400"/>
            <a:ext cx="5120640" cy="51206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943600" y="1965960"/>
            <a:ext cx="5760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500" b="1" dirty="0">
                <a:solidFill>
                  <a:srgbClr val="6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fast neural surrogate of a mechanistic</a:t>
            </a:r>
            <a:endParaRPr lang="en-US" sz="25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2500" b="1" dirty="0">
                <a:solidFill>
                  <a:srgbClr val="6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 bioreactor model</a:t>
            </a:r>
            <a:endParaRPr lang="en-US" sz="2500" dirty="0"/>
          </a:p>
        </p:txBody>
      </p:sp>
      <p:sp>
        <p:nvSpPr>
          <p:cNvPr id="4" name="Text 1"/>
          <p:cNvSpPr/>
          <p:nvPr/>
        </p:nvSpPr>
        <p:spPr>
          <a:xfrm>
            <a:off x="5943600" y="342900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7A6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Forecasting a full cell-culture run from its first few days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5943600" y="416052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 Callaway</a:t>
            </a:r>
            <a:pPr algn="l" indent="0" marL="0">
              <a:buNone/>
            </a:pPr>
            <a:r>
              <a:rPr lang="en-US" sz="1400" dirty="0">
                <a:solidFill>
                  <a:srgbClr val="7A6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Lab meeting  · 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problem, and the goal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6126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6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reference model.  </a:t>
            </a:r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COSMIC dynamic flux-balance analysis: a system of ODEs that turns fluxes and feed conditions into the daily trajectory of a cell culture. Accurate, but slow to solve.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3063240"/>
            <a:ext cx="6126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6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goal.  </a:t>
            </a:r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the solver with a small neural network that forecasts the whole run, cell density, metabolites, antibody titer, from the early days plus the operating conditions.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6126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6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matters.  </a:t>
            </a:r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Thousands of times faster, and differentiable, so it plugs into design and optimization.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0" y="1737360"/>
            <a:ext cx="4297680" cy="3840480"/>
          </a:xfrm>
          <a:prstGeom prst="roundRect">
            <a:avLst>
              <a:gd name="adj" fmla="val 2857"/>
            </a:avLst>
          </a:prstGeom>
          <a:solidFill>
            <a:srgbClr val="3A4A2E"/>
          </a:solidFill>
          <a:ln w="12700">
            <a:solidFill>
              <a:srgbClr val="3A4A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35240" y="20574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rgbClr val="F3EC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 primeur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7635240" y="278892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F3EC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Judging a wine before it is bottled, tasting the young vintage to forecast the finished product.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635240" y="416052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i="1" dirty="0">
                <a:solidFill>
                  <a:srgbClr val="A28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project does the same for a bioreactor: predict the finished run from its first few days.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models, in order of how much physics they embed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3520440" cy="3749040"/>
          </a:xfrm>
          <a:prstGeom prst="roundRect">
            <a:avLst>
              <a:gd name="adj" fmla="val 3117"/>
            </a:avLst>
          </a:prstGeom>
          <a:solidFill>
            <a:srgbClr val="F4EEE2"/>
          </a:solidFill>
          <a:ln w="12700">
            <a:solidFill>
              <a:srgbClr val="E6DEC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2057400"/>
            <a:ext cx="566928" cy="566928"/>
          </a:xfrm>
          <a:prstGeom prst="ellipse">
            <a:avLst/>
          </a:prstGeom>
          <a:solidFill>
            <a:srgbClr val="6B2333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2057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3EC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278892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6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Pure NN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868680" y="3429000"/>
            <a:ext cx="29260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Predicts next-day concentrations directly. No ODE at all. The control that shows the ODE is not what makes it accurate.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4343400" y="1737360"/>
            <a:ext cx="3520440" cy="3749040"/>
          </a:xfrm>
          <a:prstGeom prst="roundRect">
            <a:avLst>
              <a:gd name="adj" fmla="val 3117"/>
            </a:avLst>
          </a:prstGeom>
          <a:solidFill>
            <a:srgbClr val="F4EEE2"/>
          </a:solidFill>
          <a:ln w="12700">
            <a:solidFill>
              <a:srgbClr val="E6DEC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63440" y="2057400"/>
            <a:ext cx="566928" cy="566928"/>
          </a:xfrm>
          <a:prstGeom prst="ellipse">
            <a:avLst/>
          </a:prstGeom>
          <a:solidFill>
            <a:srgbClr val="3A4A2E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2057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3EC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663440" y="278892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3A4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Hybrid neural-ODE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4663440" y="3429000"/>
            <a:ext cx="29260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network predicts per-cell fluxes; a fixed ODE step integrates them. Mass balance by construction. ODE in the forward pass.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8138160" y="1737360"/>
            <a:ext cx="3520440" cy="3749040"/>
          </a:xfrm>
          <a:prstGeom prst="roundRect">
            <a:avLst>
              <a:gd name="adj" fmla="val 3117"/>
            </a:avLst>
          </a:prstGeom>
          <a:solidFill>
            <a:srgbClr val="F4EEE2"/>
          </a:solidFill>
          <a:ln w="12700">
            <a:solidFill>
              <a:srgbClr val="E6DEC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458200" y="2057400"/>
            <a:ext cx="566928" cy="566928"/>
          </a:xfrm>
          <a:prstGeom prst="ellipse">
            <a:avLst/>
          </a:prstGeom>
          <a:solidFill>
            <a:srgbClr val="A2823E"/>
          </a:solidFill>
          <a:ln/>
        </p:spPr>
      </p:sp>
      <p:sp>
        <p:nvSpPr>
          <p:cNvPr id="15" name="Text 13"/>
          <p:cNvSpPr/>
          <p:nvPr/>
        </p:nvSpPr>
        <p:spPr>
          <a:xfrm>
            <a:off x="8458200" y="2057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3EC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458200" y="278892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A282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Physics-informed (PINN)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8458200" y="3429000"/>
            <a:ext cx="29260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Predicts concentrations, with the ODE only as a soft training penalty. Solver-free at inference, so it keeps the speedup.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architecture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7A6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small model: one 1D conv layer, 32 hidden nodes. Every node drawn as a dot.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2103120" y="3611880"/>
            <a:ext cx="1417320" cy="0"/>
          </a:xfrm>
          <a:prstGeom prst="line">
            <a:avLst/>
          </a:prstGeom>
          <a:noFill/>
          <a:ln w="25400">
            <a:solidFill>
              <a:srgbClr val="A2823E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4251960" y="3611880"/>
            <a:ext cx="1417320" cy="0"/>
          </a:xfrm>
          <a:prstGeom prst="line">
            <a:avLst/>
          </a:prstGeom>
          <a:noFill/>
          <a:ln w="25400">
            <a:solidFill>
              <a:srgbClr val="A2823E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6400800" y="3611880"/>
            <a:ext cx="1417320" cy="0"/>
          </a:xfrm>
          <a:prstGeom prst="line">
            <a:avLst/>
          </a:prstGeom>
          <a:noFill/>
          <a:ln w="25400">
            <a:solidFill>
              <a:srgbClr val="A2823E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8549640" y="3611880"/>
            <a:ext cx="1417320" cy="0"/>
          </a:xfrm>
          <a:prstGeom prst="line">
            <a:avLst/>
          </a:prstGeom>
          <a:noFill/>
          <a:ln w="25400">
            <a:solidFill>
              <a:srgbClr val="A2823E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1705356" y="2299716"/>
            <a:ext cx="64008" cy="64008"/>
          </a:xfrm>
          <a:prstGeom prst="ellipse">
            <a:avLst/>
          </a:prstGeom>
          <a:solidFill>
            <a:srgbClr val="7A6E5A"/>
          </a:solidFill>
          <a:ln w="12700">
            <a:solidFill>
              <a:srgbClr val="7A6E5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05356" y="2619756"/>
            <a:ext cx="64008" cy="64008"/>
          </a:xfrm>
          <a:prstGeom prst="ellipse">
            <a:avLst/>
          </a:prstGeom>
          <a:solidFill>
            <a:srgbClr val="7A6E5A"/>
          </a:solidFill>
          <a:ln w="12700">
            <a:solidFill>
              <a:srgbClr val="7A6E5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705356" y="2939796"/>
            <a:ext cx="64008" cy="64008"/>
          </a:xfrm>
          <a:prstGeom prst="ellipse">
            <a:avLst/>
          </a:prstGeom>
          <a:solidFill>
            <a:srgbClr val="7A6E5A"/>
          </a:solidFill>
          <a:ln w="12700">
            <a:solidFill>
              <a:srgbClr val="7A6E5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705356" y="3259836"/>
            <a:ext cx="64008" cy="64008"/>
          </a:xfrm>
          <a:prstGeom prst="ellipse">
            <a:avLst/>
          </a:prstGeom>
          <a:solidFill>
            <a:srgbClr val="7A6E5A"/>
          </a:solidFill>
          <a:ln w="12700">
            <a:solidFill>
              <a:srgbClr val="7A6E5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705356" y="3579876"/>
            <a:ext cx="64008" cy="64008"/>
          </a:xfrm>
          <a:prstGeom prst="ellipse">
            <a:avLst/>
          </a:prstGeom>
          <a:solidFill>
            <a:srgbClr val="7A6E5A"/>
          </a:solidFill>
          <a:ln w="12700">
            <a:solidFill>
              <a:srgbClr val="7A6E5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705356" y="3899916"/>
            <a:ext cx="64008" cy="64008"/>
          </a:xfrm>
          <a:prstGeom prst="ellipse">
            <a:avLst/>
          </a:prstGeom>
          <a:solidFill>
            <a:srgbClr val="7A6E5A"/>
          </a:solidFill>
          <a:ln w="12700">
            <a:solidFill>
              <a:srgbClr val="7A6E5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705356" y="4219956"/>
            <a:ext cx="64008" cy="64008"/>
          </a:xfrm>
          <a:prstGeom prst="ellipse">
            <a:avLst/>
          </a:prstGeom>
          <a:solidFill>
            <a:srgbClr val="7A6E5A"/>
          </a:solidFill>
          <a:ln w="12700">
            <a:solidFill>
              <a:srgbClr val="7A6E5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05356" y="4539996"/>
            <a:ext cx="64008" cy="64008"/>
          </a:xfrm>
          <a:prstGeom prst="ellipse">
            <a:avLst/>
          </a:prstGeom>
          <a:solidFill>
            <a:srgbClr val="7A6E5A"/>
          </a:solidFill>
          <a:ln w="12700">
            <a:solidFill>
              <a:srgbClr val="7A6E5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05356" y="4860036"/>
            <a:ext cx="64008" cy="64008"/>
          </a:xfrm>
          <a:prstGeom prst="ellipse">
            <a:avLst/>
          </a:prstGeom>
          <a:solidFill>
            <a:srgbClr val="7A6E5A"/>
          </a:solidFill>
          <a:ln w="12700">
            <a:solidFill>
              <a:srgbClr val="7A6E5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50292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B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input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31520" y="53492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A6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854196" y="2299716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854196" y="2382307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54196" y="2464898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54196" y="2547489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854196" y="2630080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854196" y="2712671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54196" y="2795262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54196" y="2877853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854196" y="2960444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54196" y="3043035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54196" y="3125626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854196" y="3208217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854196" y="3290808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854196" y="3373399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854196" y="3455990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854196" y="3538581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854196" y="3621171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854196" y="3703762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854196" y="3786353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854196" y="3868944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854196" y="3951535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854196" y="4034126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854196" y="4116717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854196" y="4199308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854196" y="4281899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854196" y="4364490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854196" y="4447081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854196" y="4529672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854196" y="4612263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854196" y="4694854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854196" y="4777445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854196" y="4860036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880360" y="50292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B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1D CNN → attn</a:t>
            </a:r>
            <a:endParaRPr lang="en-US" sz="1400" dirty="0"/>
          </a:p>
        </p:txBody>
      </p:sp>
      <p:sp>
        <p:nvSpPr>
          <p:cNvPr id="52" name="Text 50"/>
          <p:cNvSpPr/>
          <p:nvPr/>
        </p:nvSpPr>
        <p:spPr>
          <a:xfrm>
            <a:off x="2880360" y="53492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A6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6003036" y="2299716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003036" y="2375020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003036" y="2450323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003036" y="2525627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003036" y="2600930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003036" y="2676234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6003036" y="2751537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003036" y="2826841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003036" y="2902144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003036" y="2977448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003036" y="3052751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003036" y="3128055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003036" y="3203358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003036" y="3278662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6003036" y="3353965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003036" y="3429269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6003036" y="3504572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6003036" y="3579876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6003036" y="3655180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6003036" y="3730483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6003036" y="3805787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6003036" y="3881090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003036" y="3956394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6003036" y="4031697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003036" y="4107001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003036" y="4182304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003036" y="4257608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003036" y="4332911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6003036" y="4408215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6003036" y="4483518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6003036" y="4558822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6003036" y="4634125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6003036" y="4709429"/>
            <a:ext cx="64008" cy="64008"/>
          </a:xfrm>
          <a:prstGeom prst="ellipse">
            <a:avLst/>
          </a:prstGeom>
          <a:solidFill>
            <a:srgbClr val="A2823E"/>
          </a:solidFill>
          <a:ln w="12700">
            <a:solidFill>
              <a:srgbClr val="A2823E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6003036" y="4784732"/>
            <a:ext cx="64008" cy="64008"/>
          </a:xfrm>
          <a:prstGeom prst="ellipse">
            <a:avLst/>
          </a:prstGeom>
          <a:solidFill>
            <a:srgbClr val="A2823E"/>
          </a:solidFill>
          <a:ln w="12700">
            <a:solidFill>
              <a:srgbClr val="A2823E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6003036" y="4860036"/>
            <a:ext cx="64008" cy="64008"/>
          </a:xfrm>
          <a:prstGeom prst="ellipse">
            <a:avLst/>
          </a:prstGeom>
          <a:solidFill>
            <a:srgbClr val="A2823E"/>
          </a:solidFill>
          <a:ln w="12700">
            <a:solidFill>
              <a:srgbClr val="A2823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5029200" y="50292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B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 DoE</a:t>
            </a:r>
            <a:endParaRPr lang="en-US" sz="1400" dirty="0"/>
          </a:p>
        </p:txBody>
      </p:sp>
      <p:sp>
        <p:nvSpPr>
          <p:cNvPr id="89" name="Text 87"/>
          <p:cNvSpPr/>
          <p:nvPr/>
        </p:nvSpPr>
        <p:spPr>
          <a:xfrm>
            <a:off x="5029200" y="53492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A6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200" dirty="0"/>
          </a:p>
        </p:txBody>
      </p:sp>
      <p:sp>
        <p:nvSpPr>
          <p:cNvPr id="90" name="Shape 88"/>
          <p:cNvSpPr/>
          <p:nvPr/>
        </p:nvSpPr>
        <p:spPr>
          <a:xfrm>
            <a:off x="8151876" y="2299716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8151876" y="2382307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8151876" y="2464898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8151876" y="2547489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8151876" y="2630080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8151876" y="2712671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8151876" y="2795262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8151876" y="2877853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8151876" y="2960444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8151876" y="3043035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8151876" y="3125626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8151876" y="3208217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8151876" y="3290808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8151876" y="3373399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8151876" y="3455990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8151876" y="3538581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8151876" y="3621171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151876" y="3703762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151876" y="3786353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51876" y="3868944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51876" y="3951535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8151876" y="4034126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8151876" y="4116717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8151876" y="4199308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8151876" y="4281899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8151876" y="4364490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8151876" y="4447081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8151876" y="4529672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8151876" y="4612263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8151876" y="4694854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8151876" y="4777445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8151876" y="4860036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7178040" y="50292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B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hidden</a:t>
            </a:r>
            <a:endParaRPr lang="en-US" sz="1400" dirty="0"/>
          </a:p>
        </p:txBody>
      </p:sp>
      <p:sp>
        <p:nvSpPr>
          <p:cNvPr id="123" name="Text 121"/>
          <p:cNvSpPr/>
          <p:nvPr/>
        </p:nvSpPr>
        <p:spPr>
          <a:xfrm>
            <a:off x="7178040" y="53492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A6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200" dirty="0"/>
          </a:p>
        </p:txBody>
      </p:sp>
      <p:sp>
        <p:nvSpPr>
          <p:cNvPr id="124" name="Shape 122"/>
          <p:cNvSpPr/>
          <p:nvPr/>
        </p:nvSpPr>
        <p:spPr>
          <a:xfrm>
            <a:off x="10300716" y="2299716"/>
            <a:ext cx="64008" cy="64008"/>
          </a:xfrm>
          <a:prstGeom prst="ellipse">
            <a:avLst/>
          </a:prstGeom>
          <a:solidFill>
            <a:srgbClr val="3A4A2E"/>
          </a:solidFill>
          <a:ln w="12700">
            <a:solidFill>
              <a:srgbClr val="3A4A2E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10300716" y="2665476"/>
            <a:ext cx="64008" cy="64008"/>
          </a:xfrm>
          <a:prstGeom prst="ellipse">
            <a:avLst/>
          </a:prstGeom>
          <a:solidFill>
            <a:srgbClr val="3A4A2E"/>
          </a:solidFill>
          <a:ln w="12700">
            <a:solidFill>
              <a:srgbClr val="3A4A2E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10300716" y="3031236"/>
            <a:ext cx="64008" cy="64008"/>
          </a:xfrm>
          <a:prstGeom prst="ellipse">
            <a:avLst/>
          </a:prstGeom>
          <a:solidFill>
            <a:srgbClr val="3A4A2E"/>
          </a:solidFill>
          <a:ln w="12700">
            <a:solidFill>
              <a:srgbClr val="3A4A2E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10300716" y="3396996"/>
            <a:ext cx="64008" cy="64008"/>
          </a:xfrm>
          <a:prstGeom prst="ellipse">
            <a:avLst/>
          </a:prstGeom>
          <a:solidFill>
            <a:srgbClr val="3A4A2E"/>
          </a:solidFill>
          <a:ln w="12700">
            <a:solidFill>
              <a:srgbClr val="3A4A2E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10300716" y="3762756"/>
            <a:ext cx="64008" cy="64008"/>
          </a:xfrm>
          <a:prstGeom prst="ellipse">
            <a:avLst/>
          </a:prstGeom>
          <a:solidFill>
            <a:srgbClr val="3A4A2E"/>
          </a:solidFill>
          <a:ln w="12700">
            <a:solidFill>
              <a:srgbClr val="3A4A2E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10300716" y="4128516"/>
            <a:ext cx="64008" cy="64008"/>
          </a:xfrm>
          <a:prstGeom prst="ellipse">
            <a:avLst/>
          </a:prstGeom>
          <a:solidFill>
            <a:srgbClr val="3A4A2E"/>
          </a:solidFill>
          <a:ln w="12700">
            <a:solidFill>
              <a:srgbClr val="3A4A2E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10300716" y="4494276"/>
            <a:ext cx="64008" cy="64008"/>
          </a:xfrm>
          <a:prstGeom prst="ellipse">
            <a:avLst/>
          </a:prstGeom>
          <a:solidFill>
            <a:srgbClr val="3A4A2E"/>
          </a:solidFill>
          <a:ln w="12700">
            <a:solidFill>
              <a:srgbClr val="3A4A2E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10300716" y="4860036"/>
            <a:ext cx="64008" cy="64008"/>
          </a:xfrm>
          <a:prstGeom prst="ellipse">
            <a:avLst/>
          </a:prstGeom>
          <a:solidFill>
            <a:srgbClr val="3A4A2E"/>
          </a:solidFill>
          <a:ln w="12700">
            <a:solidFill>
              <a:srgbClr val="3A4A2E"/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9326880" y="50292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B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day</a:t>
            </a:r>
            <a:endParaRPr lang="en-US" sz="1400" dirty="0"/>
          </a:p>
        </p:txBody>
      </p:sp>
      <p:sp>
        <p:nvSpPr>
          <p:cNvPr id="133" name="Text 131"/>
          <p:cNvSpPr/>
          <p:nvPr/>
        </p:nvSpPr>
        <p:spPr>
          <a:xfrm>
            <a:off x="9326880" y="53492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A6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00" dirty="0"/>
          </a:p>
        </p:txBody>
      </p:sp>
      <p:sp>
        <p:nvSpPr>
          <p:cNvPr id="134" name="Text 132"/>
          <p:cNvSpPr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7A6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Lines show flow, not full wiring: conv is local, attention pools the 6 days; the head (35 → 32 → 8) is fully connected.  Gold = the 3 DoE inputs.</a:t>
            </a:r>
            <a:endParaRPr lang="en-US" sz="1200" dirty="0"/>
          </a:p>
        </p:txBody>
      </p:sp>
      <p:sp>
        <p:nvSpPr>
          <p:cNvPr id="135" name="Text 133"/>
          <p:cNvSpPr/>
          <p:nvPr/>
        </p:nvSpPr>
        <p:spPr>
          <a:xfrm>
            <a:off x="548640" y="61722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7A6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output feeds back autoregressively to forecast the whole run.  Hybrid / PINN add a flux head (32 → 8) → ODE step or physics penalty.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were right #1: look at the loss curves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50876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had no validation split. We added one, and it changed the story twice: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146304" cy="146304"/>
          </a:xfrm>
          <a:prstGeom prst="ellipse">
            <a:avLst/>
          </a:prstGeom>
          <a:solidFill>
            <a:srgbClr val="A2823E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214884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small-data model was under-training, not over-fitting.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640080" y="3063240"/>
            <a:ext cx="146304" cy="146304"/>
          </a:xfrm>
          <a:prstGeom prst="ellipse">
            <a:avLst/>
          </a:prstGeom>
          <a:solidFill>
            <a:srgbClr val="A2823E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92608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corrected an earlier result we had overstated.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640080" y="3840480"/>
            <a:ext cx="146304" cy="146304"/>
          </a:xfrm>
          <a:prstGeom prst="ellipse">
            <a:avLst/>
          </a:prstGeom>
          <a:solidFill>
            <a:srgbClr val="A2823E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370332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Best-epoch numbers alone were misleading, the curve is what showed it.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640080" y="489204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rgbClr val="6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Demanding the curves is what surfaced this.</a:t>
            </a:r>
            <a:endParaRPr lang="en-US" sz="15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6858000" y="1691640"/>
          <a:ext cx="475488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Accuracy: on R², the metric you asked for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5394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6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R²  </a:t>
            </a:r>
            <a:pPr algn="l"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how much of the true variation the model explains (1 = exact, 0 = no better than the mean). Unitless, and stricter than shape alone.</a:t>
            </a:r>
            <a:endParaRPr lang="en-US" sz="1550" dirty="0"/>
          </a:p>
        </p:txBody>
      </p:sp>
      <p:sp>
        <p:nvSpPr>
          <p:cNvPr id="4" name="Text 2"/>
          <p:cNvSpPr/>
          <p:nvPr/>
        </p:nvSpPr>
        <p:spPr>
          <a:xfrm>
            <a:off x="548640" y="2697480"/>
            <a:ext cx="5394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3A4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ρ  </a:t>
            </a:r>
            <a:pPr algn="l"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does the prediction move up and down with the truth (shape only). n/a on a flat signal: nothing to correlate.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548640" y="388620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7A6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Zero-negative synthetic data, no clamp.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463040"/>
          <a:ext cx="521208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005840"/>
                <a:gridCol w="1005840"/>
                <a:gridCol w="91440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3EC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23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3EC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R²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23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3EC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23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233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Cell density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Cell size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Glucose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Glycine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Glutamine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6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Asparagine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6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282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dynamic,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Serine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6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282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tracked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400800" y="594360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7A6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of 8 score R² 0.95–0.99 (small model: 1 conv layer, hidden 32, chosen for xAI). Amino acids read n/a on the flat-window rule.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model does: predicted vs true</a:t>
            </a:r>
            <a:endParaRPr lang="en-US" sz="3200" dirty="0"/>
          </a:p>
        </p:txBody>
      </p:sp>
      <p:pic>
        <p:nvPicPr>
          <p:cNvPr id="3" name="Image 0" descr="/Users/nevecallaway/code/COSMIC-dFBA-nn/figures/nn_baseline_parity_f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11247120" cy="40873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48640" y="56692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6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on the diagonal = perfect.  </a:t>
            </a:r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variable hugs the line, including the three amino acids (bottom row), which now spread along the diagonal instead of collapsing to a flat blob.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forecast in action: titer</a:t>
            </a:r>
            <a:endParaRPr lang="en-US" sz="3200" dirty="0"/>
          </a:p>
        </p:txBody>
      </p:sp>
      <p:pic>
        <p:nvPicPr>
          <p:cNvPr id="3" name="Image 0" descr="/Users/nevecallaway/code/COSMIC-dFBA-nn/figures/nn_baseline_r2_Titer_f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11247120" cy="40873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48640" y="56692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6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 = the synthetic ODE run (our ground truth).  Red dashed = the NN's forecast.  </a:t>
            </a:r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sees only days 0–6 (left of the line), then predicts the peak and decline of days 6–12 on its own. R² 0.95. No real data is used, we test whether the NN reproduces the simulator.</a:t>
            </a:r>
            <a:endParaRPr lang="en-US" sz="1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data-generation bug we found and fixed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508760"/>
            <a:ext cx="5669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50" b="1" dirty="0">
                <a:solidFill>
                  <a:srgbClr val="6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Symptom.  </a:t>
            </a:r>
            <a:pPr algn="l"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amino acids were flat in our synthetic data, but the real measurements show them changing a lot.</a:t>
            </a:r>
            <a:endParaRPr lang="en-US" sz="1550" dirty="0"/>
          </a:p>
        </p:txBody>
      </p:sp>
      <p:sp>
        <p:nvSpPr>
          <p:cNvPr id="4" name="Text 2"/>
          <p:cNvSpPr/>
          <p:nvPr/>
        </p:nvSpPr>
        <p:spPr>
          <a:xfrm>
            <a:off x="548640" y="2651760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50" b="1" dirty="0">
                <a:solidFill>
                  <a:srgbClr val="6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Cause.  </a:t>
            </a:r>
            <a:pPr algn="l"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starting pool was tied to a 210×-inflated feed, pinning each amino acid at its feed level.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548640" y="370332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50" b="1" dirty="0">
                <a:solidFill>
                  <a:srgbClr val="3A4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(no clamp).  </a:t>
            </a:r>
            <a:pPr algn="l"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the starting pool from the feed, size the feed minimally, and raise the glucose feed. Result: real dynamics and zero negative values, surfaced, never clamped.</a:t>
            </a:r>
            <a:endParaRPr lang="en-US" sz="15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675120" y="1737360"/>
          <a:ext cx="493776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Inference: NN vs the mechanistic model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46304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6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~15 min  →  0.0013 ms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2286000"/>
            <a:ext cx="5486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COSMIC-dFBA takes </a:t>
            </a:r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6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~15 minutes per reactor</a:t>
            </a:r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(Sarat: 3.7 GHz CPU, no parallelization, 1-day resolution). The NN predicts the same run in 0.0013 ms, hundreds of millions of times faster.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3794760"/>
            <a:ext cx="5486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3A4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caveat (Sarat).  </a:t>
            </a:r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empirical model beats a mechanistic flux-balance simulation, so this is expected. COSMIC-dFBA's niche is mechanistic insight; the speed enables real-time use, it is not the contribution.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0" y="1645920"/>
            <a:ext cx="5212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7A6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separate comparison: our fast synthetic generator (a simplified ODE, what we train on), not COSMIC-dFBA: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2468880"/>
          <a:ext cx="521208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097280"/>
                <a:gridCol w="1097280"/>
              </a:tblGrid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3EC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23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3EC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ms/reactor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23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3EC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scipy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2333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numerical ODE (scipy, CPU)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25.25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1×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3A4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closed-form ODE (GPU)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A4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A4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47,000×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6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pure NN (GPU, small)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47,000×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400800" y="5074920"/>
            <a:ext cx="5212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7A6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A100, n = 20,000, small net (1 conv, hidden 32). The NN ties the exact closed-form ODE; this is our simplified generator, COSMIC-dFBA (~15 min) is off this chart entirely.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3A4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9436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3EC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 matters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73736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A282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Media design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2514600"/>
            <a:ext cx="5120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F3EC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that predicts state change better than random has </a:t>
            </a:r>
            <a:pPr algn="l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3EC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learned what drives it.</a:t>
            </a:r>
            <a:pPr algn="l"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F3EC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Read those importances out (sensitivity, attention, SHAP) and you get which conditions and media components matter. This does not depend on speed.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0" y="173736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A282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Real-time monitoring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400800" y="2514600"/>
            <a:ext cx="51206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F3EC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fast, interpretable surrogate enables Process Analytical Technology and Real-Time Release Testing, prediction and explanation </a:t>
            </a:r>
            <a:pPr algn="l"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F3EC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</a:t>
            </a:r>
            <a:pPr algn="l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F3EC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run, not offline.</a:t>
            </a:r>
            <a:endParaRPr lang="en-US" sz="1700" dirty="0"/>
          </a:p>
          <a:p>
            <a:pPr algn="l" indent="0" marL="0">
              <a:lnSpc>
                <a:spcPct val="120000"/>
              </a:lnSpc>
              <a:buNone/>
            </a:pPr>
            <a:endParaRPr lang="en-US" sz="17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F3EC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Precedent: Patel &amp; Patel (2026) use SHAP on Raman spectra to find the drivers of glucose and acetate, toward PAT/RTRT.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Physics in training, none at inference (the PINN)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7A6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Exactly the physics-informed design you suggested, not the ODE in the forward pass.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1691640" cy="868680"/>
          </a:xfrm>
          <a:prstGeom prst="roundRect">
            <a:avLst>
              <a:gd name="adj" fmla="val 10526"/>
            </a:avLst>
          </a:prstGeom>
          <a:solidFill>
            <a:srgbClr val="F4EEE2"/>
          </a:solidFill>
          <a:ln w="12700">
            <a:solidFill>
              <a:srgbClr val="E6DEC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286000"/>
            <a:ext cx="1691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331720" y="2715768"/>
            <a:ext cx="320040" cy="0"/>
          </a:xfrm>
          <a:prstGeom prst="line">
            <a:avLst/>
          </a:prstGeom>
          <a:noFill/>
          <a:ln w="25400">
            <a:solidFill>
              <a:srgbClr val="A2823E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651760" y="2286000"/>
            <a:ext cx="1691640" cy="868680"/>
          </a:xfrm>
          <a:prstGeom prst="roundRect">
            <a:avLst>
              <a:gd name="adj" fmla="val 10526"/>
            </a:avLst>
          </a:prstGeom>
          <a:solidFill>
            <a:srgbClr val="F4EEE2"/>
          </a:solidFill>
          <a:ln w="12700">
            <a:solidFill>
              <a:srgbClr val="E6DEC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651760" y="2286000"/>
            <a:ext cx="1691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1D CNN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343400" y="2715768"/>
            <a:ext cx="320040" cy="0"/>
          </a:xfrm>
          <a:prstGeom prst="line">
            <a:avLst/>
          </a:prstGeom>
          <a:noFill/>
          <a:ln w="25400">
            <a:solidFill>
              <a:srgbClr val="A2823E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663440" y="2286000"/>
            <a:ext cx="1691640" cy="868680"/>
          </a:xfrm>
          <a:prstGeom prst="roundRect">
            <a:avLst>
              <a:gd name="adj" fmla="val 10526"/>
            </a:avLst>
          </a:prstGeom>
          <a:solidFill>
            <a:srgbClr val="F4EEE2"/>
          </a:solidFill>
          <a:ln w="12700">
            <a:solidFill>
              <a:srgbClr val="E6DEC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63440" y="2286000"/>
            <a:ext cx="1691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675120" y="1828800"/>
            <a:ext cx="2103120" cy="822960"/>
          </a:xfrm>
          <a:prstGeom prst="roundRect">
            <a:avLst>
              <a:gd name="adj" fmla="val 11111"/>
            </a:avLst>
          </a:prstGeom>
          <a:solidFill>
            <a:srgbClr val="3A4A2E"/>
          </a:solidFill>
          <a:ln w="12700">
            <a:solidFill>
              <a:srgbClr val="3A4A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0" y="18288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3EC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 head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675120" y="2834640"/>
            <a:ext cx="2103120" cy="822960"/>
          </a:xfrm>
          <a:prstGeom prst="roundRect">
            <a:avLst>
              <a:gd name="adj" fmla="val 11111"/>
            </a:avLst>
          </a:prstGeom>
          <a:solidFill>
            <a:srgbClr val="A2823E"/>
          </a:solidFill>
          <a:ln w="12700">
            <a:solidFill>
              <a:srgbClr val="A2823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75120" y="283464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 head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989320" y="2715768"/>
            <a:ext cx="685800" cy="-457200"/>
          </a:xfrm>
          <a:prstGeom prst="line">
            <a:avLst/>
          </a:prstGeom>
          <a:noFill/>
          <a:ln w="25400">
            <a:solidFill>
              <a:srgbClr val="A2823E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5989320" y="2715768"/>
            <a:ext cx="685800" cy="530352"/>
          </a:xfrm>
          <a:prstGeom prst="line">
            <a:avLst/>
          </a:prstGeom>
          <a:noFill/>
          <a:ln w="25400">
            <a:solidFill>
              <a:srgbClr val="A2823E"/>
            </a:solidFill>
            <a:prstDash val="solid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8915400" y="19659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4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at inference ✓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915400" y="29718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7A6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only (ODE penalty)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0080" y="4206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6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Result.  </a:t>
            </a:r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physics weight (λ ≈ 0.1) steadies the cell-density forecast, correlation 0.79 → 0.89, with the solver absent at inference.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40080" y="52120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7A6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ODE lives only in the loss; at inference we use the concentration head alone.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Scope and next steps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6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and scope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31520" y="2148840"/>
            <a:ext cx="137160" cy="137160"/>
          </a:xfrm>
          <a:prstGeom prst="ellipse">
            <a:avLst/>
          </a:prstGeom>
          <a:solidFill>
            <a:srgbClr val="6B2333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201168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on synthetic data, a physics analog of the real reactors. Real data is not used for training or magnitudes.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31520" y="3246120"/>
            <a:ext cx="137160" cy="137160"/>
          </a:xfrm>
          <a:prstGeom prst="ellipse">
            <a:avLst/>
          </a:prstGeom>
          <a:solidFill>
            <a:srgbClr val="6B2333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310896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Normalized after combining all data, so scaling is invertible and concentrations stay interpretable. Cross-sample variance preserved.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731520" y="4343400"/>
            <a:ext cx="137160" cy="137160"/>
          </a:xfrm>
          <a:prstGeom prst="ellipse">
            <a:avLst/>
          </a:prstGeom>
          <a:solidFill>
            <a:srgbClr val="6B2333"/>
          </a:solidFill>
          <a:ln/>
        </p:spPr>
      </p:sp>
      <p:sp>
        <p:nvSpPr>
          <p:cNvPr id="9" name="Text 7"/>
          <p:cNvSpPr/>
          <p:nvPr/>
        </p:nvSpPr>
        <p:spPr>
          <a:xfrm>
            <a:off x="1005840" y="420624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= profiles match the simulator. Window-level holdout, 1–2 windows per reactor. Cell density first (R² 0.99).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400800" y="141732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3A4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data and next steps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492240" y="2148840"/>
            <a:ext cx="137160" cy="137160"/>
          </a:xfrm>
          <a:prstGeom prst="ellipse">
            <a:avLst/>
          </a:prstGeom>
          <a:solidFill>
            <a:srgbClr val="3A4A2E"/>
          </a:solidFill>
          <a:ln/>
        </p:spPr>
      </p:sp>
      <p:sp>
        <p:nvSpPr>
          <p:cNvPr id="12" name="Text 10"/>
          <p:cNvSpPr/>
          <p:nvPr/>
        </p:nvSpPr>
        <p:spPr>
          <a:xfrm>
            <a:off x="6766560" y="201168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data only as a loose shape/trend check, never magnitude. Conditions largely differ (shared: perfusion rate, eta switch, operating factors, O₂).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6492240" y="3246120"/>
            <a:ext cx="137160" cy="137160"/>
          </a:xfrm>
          <a:prstGeom prst="ellipse">
            <a:avLst/>
          </a:prstGeom>
          <a:solidFill>
            <a:srgbClr val="3A4A2E"/>
          </a:solidFill>
          <a:ln/>
        </p:spPr>
      </p:sp>
      <p:sp>
        <p:nvSpPr>
          <p:cNvPr id="14" name="Text 12"/>
          <p:cNvSpPr/>
          <p:nvPr/>
        </p:nvSpPr>
        <p:spPr>
          <a:xfrm>
            <a:off x="6766560" y="310896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Lazy training: add data for each new condition as it is encountered and retrain (~4 min). The hard part is detecting out-of-distribution inputs, knowing when to add.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6492240" y="4343400"/>
            <a:ext cx="137160" cy="137160"/>
          </a:xfrm>
          <a:prstGeom prst="ellipse">
            <a:avLst/>
          </a:prstGeom>
          <a:solidFill>
            <a:srgbClr val="3A4A2E"/>
          </a:solidFill>
          <a:ln/>
        </p:spPr>
      </p:sp>
      <p:sp>
        <p:nvSpPr>
          <p:cNvPr id="16" name="Text 14"/>
          <p:cNvSpPr/>
          <p:nvPr/>
        </p:nvSpPr>
        <p:spPr>
          <a:xfrm>
            <a:off x="6766560" y="420624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ODE-in-forward inference timing; continuous-time PINN.</a:t>
            </a:r>
            <a:endParaRPr lang="en-US" sz="14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6B23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3EC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we landed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731520" y="1920240"/>
            <a:ext cx="365760" cy="365760"/>
          </a:xfrm>
          <a:prstGeom prst="ellipse">
            <a:avLst/>
          </a:prstGeom>
          <a:solidFill>
            <a:srgbClr val="A2823E"/>
          </a:solidFill>
          <a:ln/>
        </p:spPr>
      </p:sp>
      <p:sp>
        <p:nvSpPr>
          <p:cNvPr id="4" name="Text 2"/>
          <p:cNvSpPr/>
          <p:nvPr/>
        </p:nvSpPr>
        <p:spPr>
          <a:xfrm>
            <a:off x="1325880" y="1847088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F3EC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of your points, the loss curves and the benchmark, changed our conclusions for the better.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31520" y="2880360"/>
            <a:ext cx="365760" cy="365760"/>
          </a:xfrm>
          <a:prstGeom prst="ellipse">
            <a:avLst/>
          </a:prstGeom>
          <a:solidFill>
            <a:srgbClr val="A2823E"/>
          </a:solidFill>
          <a:ln/>
        </p:spPr>
      </p:sp>
      <p:sp>
        <p:nvSpPr>
          <p:cNvPr id="6" name="Text 4"/>
          <p:cNvSpPr/>
          <p:nvPr/>
        </p:nvSpPr>
        <p:spPr>
          <a:xfrm>
            <a:off x="1325880" y="2807208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F3EC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physics-informed surrogate is built: accuracy is honest (R² 0.97–1.00 on 5 of 8 variables).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31520" y="3840480"/>
            <a:ext cx="365760" cy="365760"/>
          </a:xfrm>
          <a:prstGeom prst="ellipse">
            <a:avLst/>
          </a:prstGeom>
          <a:solidFill>
            <a:srgbClr val="A2823E"/>
          </a:solidFill>
          <a:ln/>
        </p:spPr>
      </p:sp>
      <p:sp>
        <p:nvSpPr>
          <p:cNvPr id="8" name="Text 6"/>
          <p:cNvSpPr/>
          <p:nvPr/>
        </p:nvSpPr>
        <p:spPr>
          <a:xfrm>
            <a:off x="1325880" y="3767328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F3EC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found and fixed a data-generation bug, no clamp, zero negatives.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731520" y="4800600"/>
            <a:ext cx="365760" cy="365760"/>
          </a:xfrm>
          <a:prstGeom prst="ellipse">
            <a:avLst/>
          </a:prstGeom>
          <a:solidFill>
            <a:srgbClr val="A2823E"/>
          </a:solidFill>
          <a:ln/>
        </p:spPr>
      </p:sp>
      <p:sp>
        <p:nvSpPr>
          <p:cNvPr id="10" name="Text 8"/>
          <p:cNvSpPr/>
          <p:nvPr/>
        </p:nvSpPr>
        <p:spPr>
          <a:xfrm>
            <a:off x="1325880" y="4727448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F3EC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documented and reproducible for the next person.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40080" y="61264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rgbClr val="A282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 Primeur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2026-08-04T20:03:34Z</dcterms:created>
  <dcterms:modified xsi:type="dcterms:W3CDTF">2026-08-04T20:03:34Z</dcterms:modified>
</cp:coreProperties>
</file>